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324" r:id="rId41"/>
    <p:sldId id="325" r:id="rId42"/>
    <p:sldId id="296" r:id="rId43"/>
    <p:sldId id="305" r:id="rId44"/>
    <p:sldId id="306" r:id="rId45"/>
    <p:sldId id="297" r:id="rId46"/>
    <p:sldId id="309" r:id="rId47"/>
    <p:sldId id="310" r:id="rId48"/>
    <p:sldId id="298" r:id="rId49"/>
    <p:sldId id="307" r:id="rId50"/>
    <p:sldId id="308" r:id="rId51"/>
    <p:sldId id="299" r:id="rId52"/>
    <p:sldId id="311" r:id="rId53"/>
    <p:sldId id="312" r:id="rId54"/>
    <p:sldId id="313" r:id="rId55"/>
    <p:sldId id="314" r:id="rId56"/>
    <p:sldId id="302" r:id="rId57"/>
    <p:sldId id="30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293F8-4CB1-CC2A-C3CF-E95055E08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CAA00-D814-7B54-B34A-65DD0A6C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6E141-AE6D-C585-4A02-68810B5C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63135-F50F-0E51-D86D-2CF4E0B1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A01D6-15B8-BD88-D878-55618034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38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8CA9-5E23-72E5-450C-B8A4CB83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68C7-49CE-EA5C-8915-CD09FA124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81E70-440F-E97F-29B0-85D69B036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B9C5C-BBD7-6497-17B3-E590FFF1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768D8-2B5D-2247-DB47-05AAF81A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921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8CB0-02CF-9798-6986-68A683B9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84DE1-A346-C863-3053-A4FE4DF3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5130-FED6-FCC3-F3B6-1FBEB944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06BA-9C5D-B935-D686-85B816DA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3626B-FA05-A53C-15BC-2459CFFB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50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58F1-1611-2FD1-8ECC-6B0F1FD3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9C0C-5467-1CCD-6AC2-8EEA2F02D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2B2EB-BA30-7DD8-0DCC-422696122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A8CE1-4A95-B695-9FF2-ECFF79F7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A6DA7-2426-6F6F-A224-AD696393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7EAD5-F482-6E0B-3D02-657036DC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18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B62A-D9F8-3BE8-5854-74DEFAF38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DEF2B-3BCC-1C38-11E8-6B86D42E1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DD8E6-048E-67F6-5C90-70DC7A9AE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D216A-E219-887D-9F21-5C11EFAFC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DC4F4-C4CB-D45B-4D06-1800BB79C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E099C5-E8BC-479D-E91D-B00F6AD5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5BEB9-A8D8-C8C8-B6D0-AEC2B0B25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10ADD-17C3-6A98-74B9-B7DAF049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43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F503-99AC-E74D-4D40-738DD373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2A16D-6ECB-AEAB-3F18-4FBBD64BF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72EAC-6340-D63D-D2F8-B4850CD7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60358-445F-CDFE-39F1-687105EC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43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48F20-A8F5-BB80-1826-6AAF54BE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9CBCD-CEA7-9E84-F88F-C5B1E600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CF044-3040-84DA-9377-5A521CA2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19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0BF9-519C-6D97-A289-BD092166C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8C56-5BD1-9EE6-3680-75F66CBF7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F5A64-B3CB-2FF5-F89F-85D425115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C493A-0E0B-F8C9-CB7F-5756DF7F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0ACB7-B9EF-1818-F323-DA730A33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55F95-04A9-C77D-0F4E-B483F811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55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ED4E-7FCC-3821-918B-C3FDA8F69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D4426-95CF-3C05-9008-B227740FF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3F453-2813-2990-F9EE-328731885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B3423-D58C-BF96-FF68-45468291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2E39C-6F85-5E22-59E1-57E3677A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6726B-A773-0E5E-57A8-706303E6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71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4B1A-4B35-EDF9-08F3-E17DB2A4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196FB-2399-B025-7BBA-B4047043D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2E78F-E44F-4C05-5DAD-97031F38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33B2C-D6F5-66C2-8B4C-8522F59B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92D8E-30AD-8ABF-A5E2-A2CEF9A2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6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B699A-DFF9-6A58-5F24-30C8373E9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0CCC4-B004-E699-E9FA-276D8D0EE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A8D66-B675-5DD0-F7ED-8FC2BFDB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28A9E-1D55-C41C-1DED-4DB98B96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8747C-97E8-24CD-4964-3C76742E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5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BD2C0A-390B-E6A1-C398-B2B4B209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58E1E-D642-2BAC-26BC-78979B6AB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E1A7A-5885-DC8C-BFC5-98C8B9E90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51A99-718F-40CB-8032-FEA9E7C87F1C}" type="datetimeFigureOut">
              <a:rPr lang="en-IN" smtClean="0"/>
              <a:t>05-Oct-2025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ED321-39BB-05DC-AAB9-AD411621E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41ED1-4041-4BCD-9267-DC8AEBBB5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665AB-B499-43F9-B2DC-0E3524791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3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holarhat.com/tutorial/python/data-types-in-pyth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cholarhat.com/tutorial/python/operators-of-python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scholarhat.com/tutorial/python/python-while-loop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scholarhat.com/tutorial/python/python-for-loop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holarhat.com/tutorial/python/python-while-loop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6CDCC3-3DCF-9A30-470A-8365DA28785F}"/>
              </a:ext>
            </a:extLst>
          </p:cNvPr>
          <p:cNvSpPr txBox="1"/>
          <p:nvPr/>
        </p:nvSpPr>
        <p:spPr>
          <a:xfrm>
            <a:off x="4629092" y="2828835"/>
            <a:ext cx="2933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/>
              <a:t>Python</a:t>
            </a:r>
            <a:endParaRPr lang="en-IN" sz="7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CDEF7-0FA4-4066-15D9-F1AF5510C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509"/>
            <a:ext cx="12185964" cy="60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EA05D4-72D6-AA54-B477-F3FE17CE8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46" y="983693"/>
            <a:ext cx="5297107" cy="48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4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𝐃𝐚𝐲 # 4 🐍𝐔𝐧𝐥𝐨𝐜𝐤𝐢𝐧𝐠 𝐭𝐡𝐞 𝐏𝐨𝐰𝐞𝐫 𝐨𝐟 𝐏𝐲𝐭𝐡𝐨𝐧: Basic Data  Types in Python">
            <a:extLst>
              <a:ext uri="{FF2B5EF4-FFF2-40B4-BE49-F238E27FC236}">
                <a16:creationId xmlns:a16="http://schemas.microsoft.com/office/drawing/2014/main" id="{255A2AD2-C813-9C73-2D19-01263A17F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33" y="1113463"/>
            <a:ext cx="10013133" cy="463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F94AF8-2725-FD91-9C3B-1E14B2A8A8D2}"/>
              </a:ext>
            </a:extLst>
          </p:cNvPr>
          <p:cNvSpPr txBox="1"/>
          <p:nvPr/>
        </p:nvSpPr>
        <p:spPr>
          <a:xfrm>
            <a:off x="2540627" y="6287746"/>
            <a:ext cx="7110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https://www.scholarhat.com/tutorial/python/data-types-in-python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26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DC99C-F96F-2D5B-5760-83B6CE771228}"/>
              </a:ext>
            </a:extLst>
          </p:cNvPr>
          <p:cNvSpPr txBox="1"/>
          <p:nvPr/>
        </p:nvSpPr>
        <p:spPr>
          <a:xfrm>
            <a:off x="3047246" y="6935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Numeric data types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A8E52-7D28-D77D-562D-FE1190D3BFD7}"/>
              </a:ext>
            </a:extLst>
          </p:cNvPr>
          <p:cNvSpPr txBox="1"/>
          <p:nvPr/>
        </p:nvSpPr>
        <p:spPr>
          <a:xfrm>
            <a:off x="1041149" y="2048067"/>
            <a:ext cx="93341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integer variable.</a:t>
            </a:r>
          </a:p>
          <a:p>
            <a:r>
              <a:rPr lang="en-IN" dirty="0"/>
              <a:t>a=150</a:t>
            </a:r>
          </a:p>
          <a:p>
            <a:r>
              <a:rPr lang="en-IN" dirty="0"/>
              <a:t>print("The type of variable having value", a, " is ", type(a))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float variable.</a:t>
            </a:r>
          </a:p>
          <a:p>
            <a:r>
              <a:rPr lang="en-IN" dirty="0"/>
              <a:t>b=20.846</a:t>
            </a:r>
          </a:p>
          <a:p>
            <a:r>
              <a:rPr lang="en-IN" dirty="0"/>
              <a:t>print("The type of variable having value", b, " is ", type(b))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complex variable.</a:t>
            </a:r>
          </a:p>
          <a:p>
            <a:r>
              <a:rPr lang="en-IN" dirty="0"/>
              <a:t>c=18+3j</a:t>
            </a:r>
          </a:p>
          <a:p>
            <a:r>
              <a:rPr lang="en-IN" dirty="0"/>
              <a:t>print("The type of variable having value", c, " is ", type(c))</a:t>
            </a:r>
          </a:p>
        </p:txBody>
      </p:sp>
    </p:spTree>
    <p:extLst>
      <p:ext uri="{BB962C8B-B14F-4D97-AF65-F5344CB8AC3E}">
        <p14:creationId xmlns:p14="http://schemas.microsoft.com/office/powerpoint/2010/main" val="317153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7D2207-862E-374F-83AD-F97676263200}"/>
              </a:ext>
            </a:extLst>
          </p:cNvPr>
          <p:cNvSpPr txBox="1"/>
          <p:nvPr/>
        </p:nvSpPr>
        <p:spPr>
          <a:xfrm>
            <a:off x="3047246" y="95607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Python String Data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E0B50-CA3F-0CF5-02F6-F17C83A1BAAF}"/>
              </a:ext>
            </a:extLst>
          </p:cNvPr>
          <p:cNvSpPr txBox="1"/>
          <p:nvPr/>
        </p:nvSpPr>
        <p:spPr>
          <a:xfrm>
            <a:off x="2559868" y="2186566"/>
            <a:ext cx="60975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str = 'Hello World!’</a:t>
            </a:r>
          </a:p>
          <a:p>
            <a:endParaRPr lang="en-IN" dirty="0"/>
          </a:p>
          <a:p>
            <a:r>
              <a:rPr lang="en-IN" dirty="0"/>
              <a:t>print (str) # Prints complete string</a:t>
            </a:r>
          </a:p>
          <a:p>
            <a:endParaRPr lang="en-IN" dirty="0"/>
          </a:p>
          <a:p>
            <a:r>
              <a:rPr lang="en-IN" dirty="0"/>
              <a:t>print (str[0]) # Prints first character of the string</a:t>
            </a:r>
          </a:p>
          <a:p>
            <a:endParaRPr lang="en-IN" dirty="0"/>
          </a:p>
          <a:p>
            <a:r>
              <a:rPr lang="en-IN" dirty="0"/>
              <a:t>print (str[2:5]) # Prints characters starting from 3rd to 5</a:t>
            </a:r>
            <a:r>
              <a:rPr lang="en-IN" baseline="30000" dirty="0"/>
              <a:t>th</a:t>
            </a:r>
            <a:endParaRPr lang="en-IN" dirty="0"/>
          </a:p>
          <a:p>
            <a:endParaRPr lang="en-IN" dirty="0"/>
          </a:p>
          <a:p>
            <a:r>
              <a:rPr lang="en-IN" dirty="0"/>
              <a:t>print (str[2:]) # Prints string stating from 3rd character</a:t>
            </a:r>
          </a:p>
          <a:p>
            <a:endParaRPr lang="en-IN" dirty="0"/>
          </a:p>
          <a:p>
            <a:r>
              <a:rPr lang="en-IN" dirty="0"/>
              <a:t>print (str * 2) # Prints string two times</a:t>
            </a:r>
          </a:p>
          <a:p>
            <a:endParaRPr lang="en-IN" dirty="0"/>
          </a:p>
          <a:p>
            <a:r>
              <a:rPr lang="en-IN" dirty="0"/>
              <a:t>print (str + "TEST") # Prints concatenated string</a:t>
            </a:r>
          </a:p>
        </p:txBody>
      </p:sp>
    </p:spTree>
    <p:extLst>
      <p:ext uri="{BB962C8B-B14F-4D97-AF65-F5344CB8AC3E}">
        <p14:creationId xmlns:p14="http://schemas.microsoft.com/office/powerpoint/2010/main" val="262038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AF26D-88D0-6B8A-CC26-64EC70E7C3BB}"/>
              </a:ext>
            </a:extLst>
          </p:cNvPr>
          <p:cNvSpPr txBox="1"/>
          <p:nvPr/>
        </p:nvSpPr>
        <p:spPr>
          <a:xfrm>
            <a:off x="3047246" y="71162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List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0560A-F83C-B38D-1156-0966191CD699}"/>
              </a:ext>
            </a:extLst>
          </p:cNvPr>
          <p:cNvSpPr txBox="1"/>
          <p:nvPr/>
        </p:nvSpPr>
        <p:spPr>
          <a:xfrm>
            <a:off x="3048755" y="2277101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list = [ '</a:t>
            </a:r>
            <a:r>
              <a:rPr lang="en-IN" dirty="0" err="1"/>
              <a:t>abcd</a:t>
            </a:r>
            <a:r>
              <a:rPr lang="en-IN" dirty="0"/>
              <a:t>', 786 , 2.23, 'Scholar-Hat', 70.2 ]</a:t>
            </a:r>
          </a:p>
          <a:p>
            <a:r>
              <a:rPr lang="en-IN" dirty="0" err="1"/>
              <a:t>tinylist</a:t>
            </a:r>
            <a:r>
              <a:rPr lang="en-IN" dirty="0"/>
              <a:t> = [123, 'Scholar-Hat']</a:t>
            </a:r>
          </a:p>
          <a:p>
            <a:r>
              <a:rPr lang="en-IN" dirty="0"/>
              <a:t>print (list) # Prints complete list</a:t>
            </a:r>
          </a:p>
          <a:p>
            <a:r>
              <a:rPr lang="en-IN" dirty="0"/>
              <a:t>print (list[0]) # Prints first element of the list</a:t>
            </a:r>
          </a:p>
          <a:p>
            <a:r>
              <a:rPr lang="en-IN" dirty="0"/>
              <a:t>print (list[1:3]) # Prints elements starting from 2nd till 3rd </a:t>
            </a:r>
          </a:p>
          <a:p>
            <a:r>
              <a:rPr lang="en-IN" dirty="0"/>
              <a:t>print (list[2:]) # Prints elements starting from 3rd element</a:t>
            </a:r>
          </a:p>
          <a:p>
            <a:r>
              <a:rPr lang="en-IN" dirty="0"/>
              <a:t>print (</a:t>
            </a:r>
            <a:r>
              <a:rPr lang="en-IN" dirty="0" err="1"/>
              <a:t>tinylist</a:t>
            </a:r>
            <a:r>
              <a:rPr lang="en-IN" dirty="0"/>
              <a:t> * 2) # Prints list two times</a:t>
            </a:r>
          </a:p>
          <a:p>
            <a:r>
              <a:rPr lang="en-IN" dirty="0"/>
              <a:t>print (list + </a:t>
            </a:r>
            <a:r>
              <a:rPr lang="en-IN" dirty="0" err="1"/>
              <a:t>tinylist</a:t>
            </a:r>
            <a:r>
              <a:rPr lang="en-IN" dirty="0"/>
              <a:t>) # Prints concatenated lists</a:t>
            </a:r>
          </a:p>
        </p:txBody>
      </p:sp>
    </p:spTree>
    <p:extLst>
      <p:ext uri="{BB962C8B-B14F-4D97-AF65-F5344CB8AC3E}">
        <p14:creationId xmlns:p14="http://schemas.microsoft.com/office/powerpoint/2010/main" val="124468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5C067E-CEAC-9084-7AD9-579CD5BAF017}"/>
              </a:ext>
            </a:extLst>
          </p:cNvPr>
          <p:cNvSpPr txBox="1"/>
          <p:nvPr/>
        </p:nvSpPr>
        <p:spPr>
          <a:xfrm>
            <a:off x="3047246" y="123672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Tuple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B8143-AABC-32AF-ED47-510BE126E3F3}"/>
              </a:ext>
            </a:extLst>
          </p:cNvPr>
          <p:cNvSpPr txBox="1"/>
          <p:nvPr/>
        </p:nvSpPr>
        <p:spPr>
          <a:xfrm>
            <a:off x="3048755" y="1861603"/>
            <a:ext cx="60975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tuple = ( '</a:t>
            </a:r>
            <a:r>
              <a:rPr lang="en-IN" dirty="0" err="1"/>
              <a:t>abcd</a:t>
            </a:r>
            <a:r>
              <a:rPr lang="en-IN" dirty="0"/>
              <a:t>', 786 , 2.23, 'Scholar-Hat', 70.2 )</a:t>
            </a:r>
          </a:p>
          <a:p>
            <a:r>
              <a:rPr lang="en-IN" dirty="0" err="1"/>
              <a:t>tinytuple</a:t>
            </a:r>
            <a:r>
              <a:rPr lang="en-IN" dirty="0"/>
              <a:t> = (123, 'Scholar-Hat')</a:t>
            </a:r>
          </a:p>
          <a:p>
            <a:r>
              <a:rPr lang="en-IN" dirty="0"/>
              <a:t>print (tuple) # Prints the complete tuple</a:t>
            </a:r>
          </a:p>
          <a:p>
            <a:r>
              <a:rPr lang="en-IN" dirty="0"/>
              <a:t>print (tuple[0]) # Prints first element of the tuple</a:t>
            </a:r>
          </a:p>
          <a:p>
            <a:r>
              <a:rPr lang="en-IN" dirty="0"/>
              <a:t>print (tuple[1:3]) # Prints elements of the tuple starting from 2nd till 3rd </a:t>
            </a:r>
          </a:p>
          <a:p>
            <a:r>
              <a:rPr lang="en-IN" dirty="0"/>
              <a:t>print (tuple[2:]) # Prints elements of the tuple starting from 3rd element</a:t>
            </a:r>
          </a:p>
          <a:p>
            <a:r>
              <a:rPr lang="en-IN" dirty="0"/>
              <a:t>print (</a:t>
            </a:r>
            <a:r>
              <a:rPr lang="en-IN" dirty="0" err="1"/>
              <a:t>tinytuple</a:t>
            </a:r>
            <a:r>
              <a:rPr lang="en-IN" dirty="0"/>
              <a:t> * 2) # Prints the contents of the tuple twice</a:t>
            </a:r>
          </a:p>
          <a:p>
            <a:r>
              <a:rPr lang="en-IN" dirty="0"/>
              <a:t>print (tuple + </a:t>
            </a:r>
            <a:r>
              <a:rPr lang="en-IN" dirty="0" err="1"/>
              <a:t>tinytuple</a:t>
            </a:r>
            <a:r>
              <a:rPr lang="en-IN" dirty="0"/>
              <a:t>) # Prints concatenated tuples</a:t>
            </a:r>
          </a:p>
        </p:txBody>
      </p:sp>
    </p:spTree>
    <p:extLst>
      <p:ext uri="{BB962C8B-B14F-4D97-AF65-F5344CB8AC3E}">
        <p14:creationId xmlns:p14="http://schemas.microsoft.com/office/powerpoint/2010/main" val="267283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A0F33-DF9B-07F1-4F81-3C3FDBF69F9C}"/>
              </a:ext>
            </a:extLst>
          </p:cNvPr>
          <p:cNvSpPr txBox="1"/>
          <p:nvPr/>
        </p:nvSpPr>
        <p:spPr>
          <a:xfrm>
            <a:off x="3047246" y="48529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5. Python Range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88DBD-EF5B-919F-3133-954C88F5DED4}"/>
              </a:ext>
            </a:extLst>
          </p:cNvPr>
          <p:cNvSpPr txBox="1"/>
          <p:nvPr/>
        </p:nvSpPr>
        <p:spPr>
          <a:xfrm>
            <a:off x="3048755" y="310809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range(1, 5):</a:t>
            </a:r>
          </a:p>
          <a:p>
            <a:r>
              <a:rPr lang="en-IN" dirty="0"/>
              <a:t>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623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FC06A7-8945-1B50-A47D-94428468D808}"/>
              </a:ext>
            </a:extLst>
          </p:cNvPr>
          <p:cNvSpPr txBox="1"/>
          <p:nvPr/>
        </p:nvSpPr>
        <p:spPr>
          <a:xfrm>
            <a:off x="3047246" y="85648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6. Python Dictionary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955E2-073E-BDD4-8190-795C3E63ECF6}"/>
              </a:ext>
            </a:extLst>
          </p:cNvPr>
          <p:cNvSpPr txBox="1"/>
          <p:nvPr/>
        </p:nvSpPr>
        <p:spPr>
          <a:xfrm>
            <a:off x="3048755" y="2138602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dict</a:t>
            </a:r>
            <a:r>
              <a:rPr lang="en-IN" dirty="0"/>
              <a:t> = {}</a:t>
            </a:r>
          </a:p>
          <a:p>
            <a:r>
              <a:rPr lang="en-IN" dirty="0" err="1"/>
              <a:t>dict</a:t>
            </a:r>
            <a:r>
              <a:rPr lang="en-IN" dirty="0"/>
              <a:t>['one'] = "This is one"</a:t>
            </a:r>
          </a:p>
          <a:p>
            <a:r>
              <a:rPr lang="en-IN" dirty="0" err="1"/>
              <a:t>dict</a:t>
            </a:r>
            <a:r>
              <a:rPr lang="en-IN" dirty="0"/>
              <a:t>[2] = "This is two"</a:t>
            </a:r>
          </a:p>
          <a:p>
            <a:r>
              <a:rPr lang="en-IN" dirty="0" err="1"/>
              <a:t>tinydict</a:t>
            </a:r>
            <a:r>
              <a:rPr lang="en-IN" dirty="0"/>
              <a:t> = {'name': 'Scholar-Hat','code':6734, 'dept': 'sales'}</a:t>
            </a:r>
          </a:p>
          <a:p>
            <a:r>
              <a:rPr lang="en-IN" dirty="0"/>
              <a:t>print (</a:t>
            </a:r>
            <a:r>
              <a:rPr lang="en-IN" dirty="0" err="1"/>
              <a:t>dict</a:t>
            </a:r>
            <a:r>
              <a:rPr lang="en-IN" dirty="0"/>
              <a:t>['one']) # Prints value for 'one' key</a:t>
            </a:r>
          </a:p>
          <a:p>
            <a:r>
              <a:rPr lang="en-IN" dirty="0"/>
              <a:t>print (</a:t>
            </a:r>
            <a:r>
              <a:rPr lang="en-IN" dirty="0" err="1"/>
              <a:t>dict</a:t>
            </a:r>
            <a:r>
              <a:rPr lang="en-IN" dirty="0"/>
              <a:t>[2]) # Prints value for 2 key</a:t>
            </a:r>
          </a:p>
          <a:p>
            <a:r>
              <a:rPr lang="en-IN" dirty="0"/>
              <a:t>print (</a:t>
            </a:r>
            <a:r>
              <a:rPr lang="en-IN" dirty="0" err="1"/>
              <a:t>tinydict</a:t>
            </a:r>
            <a:r>
              <a:rPr lang="en-IN" dirty="0"/>
              <a:t>) # Prints complete dictionary</a:t>
            </a:r>
          </a:p>
          <a:p>
            <a:r>
              <a:rPr lang="en-IN" dirty="0"/>
              <a:t>print (</a:t>
            </a:r>
            <a:r>
              <a:rPr lang="en-IN" dirty="0" err="1"/>
              <a:t>tinydict.keys</a:t>
            </a:r>
            <a:r>
              <a:rPr lang="en-IN" dirty="0"/>
              <a:t>()) # Prints all the keys</a:t>
            </a:r>
          </a:p>
          <a:p>
            <a:r>
              <a:rPr lang="en-IN" dirty="0"/>
              <a:t>print (</a:t>
            </a:r>
            <a:r>
              <a:rPr lang="en-IN" dirty="0" err="1"/>
              <a:t>tinydict.values</a:t>
            </a:r>
            <a:r>
              <a:rPr lang="en-IN" dirty="0"/>
              <a:t>()) # Prints all the values</a:t>
            </a:r>
          </a:p>
        </p:txBody>
      </p:sp>
    </p:spTree>
    <p:extLst>
      <p:ext uri="{BB962C8B-B14F-4D97-AF65-F5344CB8AC3E}">
        <p14:creationId xmlns:p14="http://schemas.microsoft.com/office/powerpoint/2010/main" val="271974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59F41-E353-179A-C773-1685D5712EB6}"/>
              </a:ext>
            </a:extLst>
          </p:cNvPr>
          <p:cNvSpPr txBox="1"/>
          <p:nvPr/>
        </p:nvSpPr>
        <p:spPr>
          <a:xfrm>
            <a:off x="3047246" y="90175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7. Python Boolean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50367-4067-579B-28A4-9C11C7E93D5F}"/>
              </a:ext>
            </a:extLst>
          </p:cNvPr>
          <p:cNvSpPr txBox="1"/>
          <p:nvPr/>
        </p:nvSpPr>
        <p:spPr>
          <a:xfrm>
            <a:off x="3048755" y="2554100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= True</a:t>
            </a:r>
          </a:p>
          <a:p>
            <a:r>
              <a:rPr lang="en-IN" dirty="0"/>
              <a:t># display the value of a</a:t>
            </a:r>
          </a:p>
          <a:p>
            <a:r>
              <a:rPr lang="en-IN" dirty="0"/>
              <a:t>print(a)</a:t>
            </a:r>
          </a:p>
          <a:p>
            <a:endParaRPr lang="en-IN" dirty="0"/>
          </a:p>
          <a:p>
            <a:r>
              <a:rPr lang="en-IN" dirty="0"/>
              <a:t># display the data type of a</a:t>
            </a:r>
          </a:p>
          <a:p>
            <a:r>
              <a:rPr lang="en-IN" dirty="0"/>
              <a:t>print(type(a))</a:t>
            </a:r>
          </a:p>
        </p:txBody>
      </p:sp>
    </p:spTree>
    <p:extLst>
      <p:ext uri="{BB962C8B-B14F-4D97-AF65-F5344CB8AC3E}">
        <p14:creationId xmlns:p14="http://schemas.microsoft.com/office/powerpoint/2010/main" val="2884545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DACDCC-3570-BB5A-B77C-EE4FA05C1ABB}"/>
              </a:ext>
            </a:extLst>
          </p:cNvPr>
          <p:cNvSpPr txBox="1"/>
          <p:nvPr/>
        </p:nvSpPr>
        <p:spPr>
          <a:xfrm>
            <a:off x="3047246" y="94701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8. Python Set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8B7B9-6B59-EF4B-75B0-E4124671029C}"/>
              </a:ext>
            </a:extLst>
          </p:cNvPr>
          <p:cNvSpPr txBox="1"/>
          <p:nvPr/>
        </p:nvSpPr>
        <p:spPr>
          <a:xfrm>
            <a:off x="3048755" y="310809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3, 4, 5}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434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97009-2163-F9DF-F576-C8C20ED94A1A}"/>
              </a:ext>
            </a:extLst>
          </p:cNvPr>
          <p:cNvSpPr txBox="1"/>
          <p:nvPr/>
        </p:nvSpPr>
        <p:spPr>
          <a:xfrm>
            <a:off x="3047246" y="76594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Data type conversion function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A9A04-BC5F-EB49-3B6D-FF8C6348A884}"/>
              </a:ext>
            </a:extLst>
          </p:cNvPr>
          <p:cNvSpPr txBox="1"/>
          <p:nvPr/>
        </p:nvSpPr>
        <p:spPr>
          <a:xfrm>
            <a:off x="3048755" y="2554100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= str(1) # a will be "1" </a:t>
            </a:r>
          </a:p>
          <a:p>
            <a:r>
              <a:rPr lang="en-IN" dirty="0"/>
              <a:t>b = str(2.2) # b will be "2.2"</a:t>
            </a:r>
          </a:p>
          <a:p>
            <a:r>
              <a:rPr lang="en-IN" dirty="0"/>
              <a:t>c = str("3.3") # c will be "3.3"</a:t>
            </a:r>
          </a:p>
          <a:p>
            <a:r>
              <a:rPr lang="en-IN" dirty="0"/>
              <a:t>print (a)</a:t>
            </a:r>
          </a:p>
          <a:p>
            <a:r>
              <a:rPr lang="en-IN" dirty="0"/>
              <a:t>print (b)</a:t>
            </a:r>
          </a:p>
          <a:p>
            <a:r>
              <a:rPr lang="en-IN" dirty="0"/>
              <a:t>print (c)</a:t>
            </a:r>
          </a:p>
        </p:txBody>
      </p:sp>
    </p:spTree>
    <p:extLst>
      <p:ext uri="{BB962C8B-B14F-4D97-AF65-F5344CB8AC3E}">
        <p14:creationId xmlns:p14="http://schemas.microsoft.com/office/powerpoint/2010/main" val="25087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37EC03-8B61-B1E6-CD23-169585466109}"/>
              </a:ext>
            </a:extLst>
          </p:cNvPr>
          <p:cNvSpPr txBox="1"/>
          <p:nvPr/>
        </p:nvSpPr>
        <p:spPr>
          <a:xfrm>
            <a:off x="3092514" y="6334727"/>
            <a:ext cx="653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2"/>
              </a:rPr>
              <a:t>https://www.scholarhat.com/tutorial/python/operators-of-python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8A093-108F-6FCB-AB5C-E60160CF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887" y="2071687"/>
            <a:ext cx="484822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86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2D8CD-E07A-12D5-1E95-D7695BF55E6F}"/>
              </a:ext>
            </a:extLst>
          </p:cNvPr>
          <p:cNvSpPr txBox="1"/>
          <p:nvPr/>
        </p:nvSpPr>
        <p:spPr>
          <a:xfrm>
            <a:off x="3047246" y="71528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1. </a:t>
            </a:r>
            <a:r>
              <a:rPr lang="en-IN" dirty="0">
                <a:solidFill>
                  <a:srgbClr val="05B5B3"/>
                </a:solidFill>
                <a:highlight>
                  <a:srgbClr val="FFFFFF"/>
                </a:highlight>
                <a:latin typeface="Source Sans Pro" panose="020B0503030403020204" pitchFamily="34" charset="0"/>
              </a:rPr>
              <a:t>Python Arithmetic Operators</a:t>
            </a:r>
            <a:endParaRPr lang="en-IN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9660F-ADF4-D3F7-BE6D-1A030AB9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671637"/>
            <a:ext cx="90297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64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3C044-8899-9DB3-DCA5-E1685416D090}"/>
              </a:ext>
            </a:extLst>
          </p:cNvPr>
          <p:cNvSpPr txBox="1"/>
          <p:nvPr/>
        </p:nvSpPr>
        <p:spPr>
          <a:xfrm>
            <a:off x="1229008" y="2429894"/>
            <a:ext cx="30080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00B050"/>
                </a:solidFill>
              </a:rPr>
              <a:t># Addition</a:t>
            </a:r>
          </a:p>
          <a:p>
            <a:r>
              <a:rPr lang="en-IN" dirty="0"/>
              <a:t>print ("a + b : ", a +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Subtraction</a:t>
            </a:r>
          </a:p>
          <a:p>
            <a:r>
              <a:rPr lang="en-IN" dirty="0"/>
              <a:t>print ("a - b : ", a -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Multiplication</a:t>
            </a:r>
          </a:p>
          <a:p>
            <a:r>
              <a:rPr lang="en-IN" dirty="0"/>
              <a:t>print ("a * b : ", a *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Division</a:t>
            </a:r>
          </a:p>
          <a:p>
            <a:r>
              <a:rPr lang="en-IN" dirty="0"/>
              <a:t>print ("a / b : ", a / b)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9C9EE-E980-347C-8C72-441CB2975C23}"/>
              </a:ext>
            </a:extLst>
          </p:cNvPr>
          <p:cNvSpPr txBox="1"/>
          <p:nvPr/>
        </p:nvSpPr>
        <p:spPr>
          <a:xfrm>
            <a:off x="8196403" y="3508374"/>
            <a:ext cx="37179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Modulus</a:t>
            </a:r>
          </a:p>
          <a:p>
            <a:r>
              <a:rPr lang="en-IN" dirty="0"/>
              <a:t>print ("a % b : ", a %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Exponent</a:t>
            </a:r>
          </a:p>
          <a:p>
            <a:r>
              <a:rPr lang="en-IN" dirty="0"/>
              <a:t>print ("a ** b : ", a **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Floor Division</a:t>
            </a:r>
          </a:p>
          <a:p>
            <a:r>
              <a:rPr lang="en-IN" dirty="0"/>
              <a:t>print ("a // b : ", a // 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F7B99-A63F-3CE2-0C3A-0978ABC75341}"/>
              </a:ext>
            </a:extLst>
          </p:cNvPr>
          <p:cNvSpPr txBox="1"/>
          <p:nvPr/>
        </p:nvSpPr>
        <p:spPr>
          <a:xfrm>
            <a:off x="5312122" y="742445"/>
            <a:ext cx="783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 = 21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b = 10</a:t>
            </a:r>
          </a:p>
        </p:txBody>
      </p:sp>
    </p:spTree>
    <p:extLst>
      <p:ext uri="{BB962C8B-B14F-4D97-AF65-F5344CB8AC3E}">
        <p14:creationId xmlns:p14="http://schemas.microsoft.com/office/powerpoint/2010/main" val="1187884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0A93CA-8974-3BFB-8438-0D2373E4FDE0}"/>
              </a:ext>
            </a:extLst>
          </p:cNvPr>
          <p:cNvSpPr txBox="1"/>
          <p:nvPr/>
        </p:nvSpPr>
        <p:spPr>
          <a:xfrm>
            <a:off x="3047246" y="53055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Python Comparison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43A5E-43D4-1427-BC59-EA7B892F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637686"/>
            <a:ext cx="89725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92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4241D-424F-514A-3AC7-2179B052978D}"/>
              </a:ext>
            </a:extLst>
          </p:cNvPr>
          <p:cNvSpPr txBox="1"/>
          <p:nvPr/>
        </p:nvSpPr>
        <p:spPr>
          <a:xfrm>
            <a:off x="4853412" y="1219767"/>
            <a:ext cx="6631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a = 4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>
                <a:solidFill>
                  <a:srgbClr val="00B050"/>
                </a:solidFill>
              </a:rPr>
              <a:t>b =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171B2-A071-9FB5-3EC6-13CF18395137}"/>
              </a:ext>
            </a:extLst>
          </p:cNvPr>
          <p:cNvSpPr txBox="1"/>
          <p:nvPr/>
        </p:nvSpPr>
        <p:spPr>
          <a:xfrm>
            <a:off x="1174689" y="3083820"/>
            <a:ext cx="31166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Equal</a:t>
            </a:r>
          </a:p>
          <a:p>
            <a:r>
              <a:rPr lang="en-IN" dirty="0"/>
              <a:t>print ("a == b : ", a == b)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Not Equal</a:t>
            </a:r>
          </a:p>
          <a:p>
            <a:r>
              <a:rPr lang="en-IN" dirty="0"/>
              <a:t>print ("a != b : ", a != b)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# Greater Than</a:t>
            </a:r>
          </a:p>
          <a:p>
            <a:r>
              <a:rPr lang="en-IN" dirty="0"/>
              <a:t>print ("a &gt; b : ", a &gt; b)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D4136-A23D-316A-3B82-17B7768F8336}"/>
              </a:ext>
            </a:extLst>
          </p:cNvPr>
          <p:cNvSpPr txBox="1"/>
          <p:nvPr/>
        </p:nvSpPr>
        <p:spPr>
          <a:xfrm>
            <a:off x="6371377" y="3083820"/>
            <a:ext cx="31800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Less Than</a:t>
            </a:r>
          </a:p>
          <a:p>
            <a:r>
              <a:rPr lang="en-IN" dirty="0"/>
              <a:t>print ("a &lt; b : ", a &lt; b)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# Greater Than or Equal to</a:t>
            </a:r>
          </a:p>
          <a:p>
            <a:r>
              <a:rPr lang="en-IN" dirty="0"/>
              <a:t>print ("a &gt;= b : ", a &gt;= b)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# Less Than or Equal to</a:t>
            </a:r>
          </a:p>
          <a:p>
            <a:r>
              <a:rPr lang="en-IN" dirty="0"/>
              <a:t>print ("a &lt;= b : ", a &lt;= b)</a:t>
            </a:r>
          </a:p>
        </p:txBody>
      </p:sp>
    </p:spTree>
    <p:extLst>
      <p:ext uri="{BB962C8B-B14F-4D97-AF65-F5344CB8AC3E}">
        <p14:creationId xmlns:p14="http://schemas.microsoft.com/office/powerpoint/2010/main" val="322325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FFEF5-7208-63C8-029E-9F1BAFA2D45F}"/>
              </a:ext>
            </a:extLst>
          </p:cNvPr>
          <p:cNvSpPr txBox="1"/>
          <p:nvPr/>
        </p:nvSpPr>
        <p:spPr>
          <a:xfrm>
            <a:off x="3047246" y="46718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Assignment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73ADB-E739-75E1-2874-C0DA2AD5E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495425"/>
            <a:ext cx="89439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E727B5-FD92-1D03-F9FD-A3F3D4897866}"/>
              </a:ext>
            </a:extLst>
          </p:cNvPr>
          <p:cNvSpPr txBox="1"/>
          <p:nvPr/>
        </p:nvSpPr>
        <p:spPr>
          <a:xfrm>
            <a:off x="1699789" y="2218532"/>
            <a:ext cx="37594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Addition Assignment</a:t>
            </a:r>
          </a:p>
          <a:p>
            <a:r>
              <a:rPr lang="en-IN" dirty="0"/>
              <a:t>a += 5</a:t>
            </a:r>
          </a:p>
          <a:p>
            <a:r>
              <a:rPr lang="en-IN" dirty="0"/>
              <a:t>print ("a += 5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Subtraction Assignment</a:t>
            </a:r>
          </a:p>
          <a:p>
            <a:r>
              <a:rPr lang="en-IN" dirty="0"/>
              <a:t>a -= 5</a:t>
            </a:r>
          </a:p>
          <a:p>
            <a:r>
              <a:rPr lang="en-IN" dirty="0"/>
              <a:t>print ("a -= 5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Multiplication Assignment</a:t>
            </a:r>
          </a:p>
          <a:p>
            <a:r>
              <a:rPr lang="en-IN" dirty="0"/>
              <a:t>a *= 5</a:t>
            </a:r>
          </a:p>
          <a:p>
            <a:r>
              <a:rPr lang="en-IN" dirty="0"/>
              <a:t>print ("a *= 5 : ", a)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18B8B-8264-2142-11CC-D1A2331CB55D}"/>
              </a:ext>
            </a:extLst>
          </p:cNvPr>
          <p:cNvSpPr txBox="1"/>
          <p:nvPr/>
        </p:nvSpPr>
        <p:spPr>
          <a:xfrm>
            <a:off x="6660333" y="2218532"/>
            <a:ext cx="38318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Division Assignment</a:t>
            </a:r>
          </a:p>
          <a:p>
            <a:r>
              <a:rPr lang="en-IN" dirty="0"/>
              <a:t>a /= 5</a:t>
            </a:r>
          </a:p>
          <a:p>
            <a:r>
              <a:rPr lang="en-IN" dirty="0"/>
              <a:t>print ("a /= 5 : ",a)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Remainder Assignment</a:t>
            </a:r>
          </a:p>
          <a:p>
            <a:r>
              <a:rPr lang="en-IN" dirty="0"/>
              <a:t>a %= 3</a:t>
            </a:r>
          </a:p>
          <a:p>
            <a:r>
              <a:rPr lang="en-IN" dirty="0"/>
              <a:t>print ("a %= 3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Exponent Assignment</a:t>
            </a:r>
          </a:p>
          <a:p>
            <a:r>
              <a:rPr lang="en-IN" dirty="0"/>
              <a:t>a **= 2</a:t>
            </a:r>
          </a:p>
          <a:p>
            <a:r>
              <a:rPr lang="en-IN" dirty="0"/>
              <a:t>print ("a **= 2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Floor Division Assignment</a:t>
            </a:r>
          </a:p>
          <a:p>
            <a:r>
              <a:rPr lang="en-IN" dirty="0"/>
              <a:t>a //= 3</a:t>
            </a:r>
          </a:p>
          <a:p>
            <a:r>
              <a:rPr lang="en-IN" dirty="0"/>
              <a:t>print ("a //= 3 : ", 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53488-8351-460F-B21B-C6B3B62026D5}"/>
              </a:ext>
            </a:extLst>
          </p:cNvPr>
          <p:cNvSpPr txBox="1"/>
          <p:nvPr/>
        </p:nvSpPr>
        <p:spPr>
          <a:xfrm>
            <a:off x="2478764" y="78135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00B050"/>
                </a:solidFill>
              </a:rPr>
              <a:t># Assignment Operator</a:t>
            </a:r>
          </a:p>
          <a:p>
            <a:pPr algn="ctr"/>
            <a:r>
              <a:rPr lang="en-IN" dirty="0">
                <a:solidFill>
                  <a:srgbClr val="00B050"/>
                </a:solidFill>
              </a:rPr>
              <a:t>a = 10</a:t>
            </a:r>
          </a:p>
        </p:txBody>
      </p:sp>
    </p:spTree>
    <p:extLst>
      <p:ext uri="{BB962C8B-B14F-4D97-AF65-F5344CB8AC3E}">
        <p14:creationId xmlns:p14="http://schemas.microsoft.com/office/powerpoint/2010/main" val="33710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240F6E-33BE-E188-0E27-195CD83E5FCA}"/>
              </a:ext>
            </a:extLst>
          </p:cNvPr>
          <p:cNvSpPr txBox="1"/>
          <p:nvPr/>
        </p:nvSpPr>
        <p:spPr>
          <a:xfrm>
            <a:off x="3047246" y="58487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Bitwise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24181-E4D1-414C-A636-7FE63096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304925"/>
            <a:ext cx="898207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5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575D11-FC73-2056-97C1-A0A987183501}"/>
              </a:ext>
            </a:extLst>
          </p:cNvPr>
          <p:cNvSpPr txBox="1"/>
          <p:nvPr/>
        </p:nvSpPr>
        <p:spPr>
          <a:xfrm>
            <a:off x="1852943" y="2136338"/>
            <a:ext cx="31800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Binary AND</a:t>
            </a:r>
          </a:p>
          <a:p>
            <a:r>
              <a:rPr lang="en-IN" dirty="0"/>
              <a:t>c = a &amp; b # 12 = 0000 1100</a:t>
            </a:r>
          </a:p>
          <a:p>
            <a:r>
              <a:rPr lang="en-IN" dirty="0"/>
              <a:t>print ("a &amp; b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OR</a:t>
            </a:r>
          </a:p>
          <a:p>
            <a:r>
              <a:rPr lang="en-IN" dirty="0"/>
              <a:t>c = a | b # 61 = 0011 1101</a:t>
            </a:r>
          </a:p>
          <a:p>
            <a:r>
              <a:rPr lang="en-IN" dirty="0"/>
              <a:t>print ("a | b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XOR</a:t>
            </a:r>
          </a:p>
          <a:p>
            <a:r>
              <a:rPr lang="en-IN" dirty="0"/>
              <a:t>c = a ^ b # 49 = 0011 0001</a:t>
            </a:r>
          </a:p>
          <a:p>
            <a:r>
              <a:rPr lang="en-IN" dirty="0"/>
              <a:t>print ("a ^ b : ", 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A2D5A-7436-9904-7DB7-B919748C6363}"/>
              </a:ext>
            </a:extLst>
          </p:cNvPr>
          <p:cNvSpPr txBox="1"/>
          <p:nvPr/>
        </p:nvSpPr>
        <p:spPr>
          <a:xfrm>
            <a:off x="7378197" y="2136338"/>
            <a:ext cx="37956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Binary Ones Complement</a:t>
            </a:r>
          </a:p>
          <a:p>
            <a:r>
              <a:rPr lang="en-IN" dirty="0"/>
              <a:t>c = ~a; # -61 = 1100 0011</a:t>
            </a:r>
          </a:p>
          <a:p>
            <a:r>
              <a:rPr lang="en-IN" dirty="0"/>
              <a:t>print ("~a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Left Shift</a:t>
            </a:r>
          </a:p>
          <a:p>
            <a:r>
              <a:rPr lang="en-IN" dirty="0"/>
              <a:t>c = a &lt;&lt; 2; # 240 = 1111 0000</a:t>
            </a:r>
          </a:p>
          <a:p>
            <a:r>
              <a:rPr lang="en-IN" dirty="0"/>
              <a:t>print ("a &lt;&lt; 2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Right Shift</a:t>
            </a:r>
          </a:p>
          <a:p>
            <a:r>
              <a:rPr lang="en-IN" dirty="0"/>
              <a:t>c = a &gt;&gt; 2; # 15 = 0000 1111</a:t>
            </a:r>
          </a:p>
          <a:p>
            <a:r>
              <a:rPr lang="en-IN" dirty="0"/>
              <a:t>print ("a &gt;&gt; 2 : ", 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ED3F6-D2ED-A66D-B52C-1A2C05144DF4}"/>
              </a:ext>
            </a:extLst>
          </p:cNvPr>
          <p:cNvSpPr txBox="1"/>
          <p:nvPr/>
        </p:nvSpPr>
        <p:spPr>
          <a:xfrm>
            <a:off x="4813803" y="615108"/>
            <a:ext cx="2564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 = 60 # 60 = 0011 1100</a:t>
            </a:r>
          </a:p>
          <a:p>
            <a:r>
              <a:rPr lang="en-IN" dirty="0">
                <a:solidFill>
                  <a:srgbClr val="FF0000"/>
                </a:solidFill>
              </a:rPr>
              <a:t>b = 13 # 13 = 0000 1101</a:t>
            </a:r>
          </a:p>
        </p:txBody>
      </p:sp>
    </p:spTree>
    <p:extLst>
      <p:ext uri="{BB962C8B-B14F-4D97-AF65-F5344CB8AC3E}">
        <p14:creationId xmlns:p14="http://schemas.microsoft.com/office/powerpoint/2010/main" val="802133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70E59E-535F-61A2-9AC2-374417244EEA}"/>
              </a:ext>
            </a:extLst>
          </p:cNvPr>
          <p:cNvSpPr txBox="1"/>
          <p:nvPr/>
        </p:nvSpPr>
        <p:spPr>
          <a:xfrm>
            <a:off x="3047246" y="10466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5. Python Logical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5E9E1-60F6-9555-71DA-66F03EDC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6" y="2528887"/>
            <a:ext cx="90201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86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62C30-3BBD-6709-5CE0-4CF23B5CED96}"/>
              </a:ext>
            </a:extLst>
          </p:cNvPr>
          <p:cNvSpPr txBox="1"/>
          <p:nvPr/>
        </p:nvSpPr>
        <p:spPr>
          <a:xfrm>
            <a:off x="3048755" y="2831099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x = 5</a:t>
            </a:r>
          </a:p>
          <a:p>
            <a:r>
              <a:rPr lang="en-IN" dirty="0">
                <a:solidFill>
                  <a:srgbClr val="00B050"/>
                </a:solidFill>
              </a:rPr>
              <a:t>y = 10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endParaRPr lang="en-IN" dirty="0">
              <a:solidFill>
                <a:srgbClr val="00B050"/>
              </a:solidFill>
            </a:endParaRP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if x &gt; 3 and y &lt; 15:</a:t>
            </a:r>
          </a:p>
          <a:p>
            <a:r>
              <a:rPr lang="en-IN" dirty="0"/>
              <a:t>  print("Both x and y are within the specified range")</a:t>
            </a:r>
          </a:p>
        </p:txBody>
      </p:sp>
    </p:spTree>
    <p:extLst>
      <p:ext uri="{BB962C8B-B14F-4D97-AF65-F5344CB8AC3E}">
        <p14:creationId xmlns:p14="http://schemas.microsoft.com/office/powerpoint/2010/main" val="3925261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FE573-9B7A-BC4E-8FBC-C8CEB7028928}"/>
              </a:ext>
            </a:extLst>
          </p:cNvPr>
          <p:cNvSpPr txBox="1"/>
          <p:nvPr/>
        </p:nvSpPr>
        <p:spPr>
          <a:xfrm>
            <a:off x="3047246" y="6935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6. Python Membership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7AD70-0DE6-98EE-7E2F-1745D5652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2476500"/>
            <a:ext cx="89439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41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23D13-578B-AC52-65DE-9EA0CBC379C7}"/>
              </a:ext>
            </a:extLst>
          </p:cNvPr>
          <p:cNvSpPr txBox="1"/>
          <p:nvPr/>
        </p:nvSpPr>
        <p:spPr>
          <a:xfrm>
            <a:off x="3047246" y="2013589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fruits = ["apple", "banana", "cherry"]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if "banana" in fruits:</a:t>
            </a:r>
          </a:p>
          <a:p>
            <a:r>
              <a:rPr lang="en-IN" dirty="0"/>
              <a:t>    print("Yes, banana is a fruit!")</a:t>
            </a:r>
          </a:p>
          <a:p>
            <a:endParaRPr lang="en-IN" dirty="0"/>
          </a:p>
          <a:p>
            <a:r>
              <a:rPr lang="en-IN" dirty="0"/>
              <a:t>else:</a:t>
            </a:r>
          </a:p>
          <a:p>
            <a:r>
              <a:rPr lang="en-IN" dirty="0"/>
              <a:t>    print("No, banana is not a fruit!")</a:t>
            </a:r>
          </a:p>
        </p:txBody>
      </p:sp>
    </p:spTree>
    <p:extLst>
      <p:ext uri="{BB962C8B-B14F-4D97-AF65-F5344CB8AC3E}">
        <p14:creationId xmlns:p14="http://schemas.microsoft.com/office/powerpoint/2010/main" val="249483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0E0B18-817D-5AD9-45D3-E829BC1A1107}"/>
              </a:ext>
            </a:extLst>
          </p:cNvPr>
          <p:cNvSpPr txBox="1"/>
          <p:nvPr/>
        </p:nvSpPr>
        <p:spPr>
          <a:xfrm>
            <a:off x="3047246" y="53961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7. Python Identity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A29C9-A2B5-16B9-6EC4-E1663BD9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2466975"/>
            <a:ext cx="90106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89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52A6F-F318-0717-8894-E2B4D2FAAC6D}"/>
              </a:ext>
            </a:extLst>
          </p:cNvPr>
          <p:cNvSpPr txBox="1"/>
          <p:nvPr/>
        </p:nvSpPr>
        <p:spPr>
          <a:xfrm>
            <a:off x="3048755" y="2554100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x = 10</a:t>
            </a:r>
          </a:p>
          <a:p>
            <a:r>
              <a:rPr lang="en-IN" dirty="0">
                <a:solidFill>
                  <a:srgbClr val="00B050"/>
                </a:solidFill>
              </a:rPr>
              <a:t>y = 5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if x is y:</a:t>
            </a:r>
          </a:p>
          <a:p>
            <a:r>
              <a:rPr lang="en-IN" dirty="0"/>
              <a:t>    print("x and y are the same object")</a:t>
            </a:r>
          </a:p>
          <a:p>
            <a:endParaRPr lang="en-IN" dirty="0"/>
          </a:p>
          <a:p>
            <a:r>
              <a:rPr lang="en-IN" dirty="0"/>
              <a:t>else:</a:t>
            </a:r>
          </a:p>
          <a:p>
            <a:r>
              <a:rPr lang="en-IN" dirty="0"/>
              <a:t>    print("x and y are not the same object")</a:t>
            </a:r>
          </a:p>
        </p:txBody>
      </p:sp>
    </p:spTree>
    <p:extLst>
      <p:ext uri="{BB962C8B-B14F-4D97-AF65-F5344CB8AC3E}">
        <p14:creationId xmlns:p14="http://schemas.microsoft.com/office/powerpoint/2010/main" val="1244359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1300F-4208-9305-53BC-122477B5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752475"/>
            <a:ext cx="9039225" cy="6105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4B87DD-FA00-752F-FA70-70E264D3CB39}"/>
              </a:ext>
            </a:extLst>
          </p:cNvPr>
          <p:cNvSpPr txBox="1"/>
          <p:nvPr/>
        </p:nvSpPr>
        <p:spPr>
          <a:xfrm>
            <a:off x="2894846" y="24990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Operators Precedence</a:t>
            </a:r>
          </a:p>
        </p:txBody>
      </p:sp>
    </p:spTree>
    <p:extLst>
      <p:ext uri="{BB962C8B-B14F-4D97-AF65-F5344CB8AC3E}">
        <p14:creationId xmlns:p14="http://schemas.microsoft.com/office/powerpoint/2010/main" val="4062141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ditional Statements in Python | Python For Beginners | K21Academy">
            <a:extLst>
              <a:ext uri="{FF2B5EF4-FFF2-40B4-BE49-F238E27FC236}">
                <a16:creationId xmlns:a16="http://schemas.microsoft.com/office/drawing/2014/main" id="{CA668863-DD70-8A46-86AA-53B4F00B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16" y="185030"/>
            <a:ext cx="11534115" cy="648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509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90D9C1-F48F-97ED-E680-D51C187E1B46}"/>
              </a:ext>
            </a:extLst>
          </p:cNvPr>
          <p:cNvSpPr txBox="1"/>
          <p:nvPr/>
        </p:nvSpPr>
        <p:spPr>
          <a:xfrm>
            <a:off x="3047246" y="83837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If statements in python</a:t>
            </a:r>
          </a:p>
        </p:txBody>
      </p:sp>
      <p:pic>
        <p:nvPicPr>
          <p:cNvPr id="1026" name="Picture 2" descr="If Statement in Python">
            <a:extLst>
              <a:ext uri="{FF2B5EF4-FFF2-40B4-BE49-F238E27FC236}">
                <a16:creationId xmlns:a16="http://schemas.microsoft.com/office/drawing/2014/main" id="{4033EC14-F40A-8F0F-AB21-96FBB15F0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96" y="1628412"/>
            <a:ext cx="2112208" cy="309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3D4062-2C4B-5510-4685-2E5512960F99}"/>
              </a:ext>
            </a:extLst>
          </p:cNvPr>
          <p:cNvSpPr txBox="1"/>
          <p:nvPr/>
        </p:nvSpPr>
        <p:spPr>
          <a:xfrm>
            <a:off x="3047246" y="5143298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</a:t>
            </a:r>
            <a:r>
              <a:rPr lang="en-IN" dirty="0"/>
              <a:t> = 8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&gt; 0:</a:t>
            </a:r>
          </a:p>
          <a:p>
            <a:r>
              <a:rPr lang="en-IN" dirty="0"/>
              <a:t>  print("The number is positive.")</a:t>
            </a:r>
          </a:p>
        </p:txBody>
      </p:sp>
    </p:spTree>
    <p:extLst>
      <p:ext uri="{BB962C8B-B14F-4D97-AF65-F5344CB8AC3E}">
        <p14:creationId xmlns:p14="http://schemas.microsoft.com/office/powerpoint/2010/main" val="2174524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683C9-4F05-225D-8C33-B49B21B8A6F3}"/>
              </a:ext>
            </a:extLst>
          </p:cNvPr>
          <p:cNvSpPr txBox="1"/>
          <p:nvPr/>
        </p:nvSpPr>
        <p:spPr>
          <a:xfrm>
            <a:off x="3047246" y="23179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2. </a:t>
            </a:r>
            <a:r>
              <a:rPr lang="en-US" dirty="0">
                <a:solidFill>
                  <a:srgbClr val="05B5B3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If else statement in python</a:t>
            </a:r>
            <a:endParaRPr lang="en-US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5" name="AutoShape 4" descr="If else statement in python">
            <a:extLst>
              <a:ext uri="{FF2B5EF4-FFF2-40B4-BE49-F238E27FC236}">
                <a16:creationId xmlns:a16="http://schemas.microsoft.com/office/drawing/2014/main" id="{F21C481A-3E6C-87E7-96FD-07D7C2D9F8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If else statement in python">
            <a:extLst>
              <a:ext uri="{FF2B5EF4-FFF2-40B4-BE49-F238E27FC236}">
                <a16:creationId xmlns:a16="http://schemas.microsoft.com/office/drawing/2014/main" id="{9EF7B297-DC3B-7250-2163-5D16D3B261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CBCAD-549F-7A59-153B-1759D5C44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993193"/>
            <a:ext cx="3429000" cy="3857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AC9FDB-6179-14B8-2AA4-7043B0B42721}"/>
              </a:ext>
            </a:extLst>
          </p:cNvPr>
          <p:cNvSpPr txBox="1"/>
          <p:nvPr/>
        </p:nvSpPr>
        <p:spPr>
          <a:xfrm>
            <a:off x="3047246" y="5003218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</a:t>
            </a:r>
            <a:r>
              <a:rPr lang="en-IN" dirty="0"/>
              <a:t> = 11</a:t>
            </a:r>
          </a:p>
          <a:p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% 2 == 0:</a:t>
            </a:r>
          </a:p>
          <a:p>
            <a:r>
              <a:rPr lang="en-IN" dirty="0"/>
              <a:t>  print("The number is even.")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print("The number is odd.")</a:t>
            </a:r>
          </a:p>
        </p:txBody>
      </p:sp>
    </p:spTree>
    <p:extLst>
      <p:ext uri="{BB962C8B-B14F-4D97-AF65-F5344CB8AC3E}">
        <p14:creationId xmlns:p14="http://schemas.microsoft.com/office/powerpoint/2010/main" val="4080222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B4A82-A5C3-480C-C02A-ABB56488AEAB}"/>
              </a:ext>
            </a:extLst>
          </p:cNvPr>
          <p:cNvSpPr txBox="1"/>
          <p:nvPr/>
        </p:nvSpPr>
        <p:spPr>
          <a:xfrm>
            <a:off x="3047246" y="28081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Nested if else statement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5B231-199E-24FD-1789-50FC6C0B067B}"/>
              </a:ext>
            </a:extLst>
          </p:cNvPr>
          <p:cNvSpPr txBox="1"/>
          <p:nvPr/>
        </p:nvSpPr>
        <p:spPr>
          <a:xfrm>
            <a:off x="3047246" y="4268864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</a:t>
            </a:r>
            <a:r>
              <a:rPr lang="en-IN" dirty="0"/>
              <a:t> = 3</a:t>
            </a:r>
          </a:p>
          <a:p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&gt; 0:</a:t>
            </a:r>
          </a:p>
          <a:p>
            <a:r>
              <a:rPr lang="en-IN" dirty="0"/>
              <a:t>  if </a:t>
            </a:r>
            <a:r>
              <a:rPr lang="en-IN" dirty="0" err="1"/>
              <a:t>num</a:t>
            </a:r>
            <a:r>
              <a:rPr lang="en-IN" dirty="0"/>
              <a:t> % 2 == 0:</a:t>
            </a:r>
          </a:p>
          <a:p>
            <a:r>
              <a:rPr lang="en-IN" dirty="0"/>
              <a:t>    print("The number is positive and even.")</a:t>
            </a:r>
          </a:p>
          <a:p>
            <a:r>
              <a:rPr lang="en-IN" dirty="0"/>
              <a:t>  else:</a:t>
            </a:r>
          </a:p>
          <a:p>
            <a:r>
              <a:rPr lang="en-IN" dirty="0"/>
              <a:t>    print("The number is positive but odd.")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print("The number is not positive.")</a:t>
            </a:r>
          </a:p>
        </p:txBody>
      </p:sp>
      <p:pic>
        <p:nvPicPr>
          <p:cNvPr id="3074" name="Picture 2" descr="Python Nested If Else - Tutlane">
            <a:extLst>
              <a:ext uri="{FF2B5EF4-FFF2-40B4-BE49-F238E27FC236}">
                <a16:creationId xmlns:a16="http://schemas.microsoft.com/office/drawing/2014/main" id="{886320DF-E8F9-D77C-860A-44BBA31EA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76" y="778535"/>
            <a:ext cx="2118064" cy="41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294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BE924-F22E-2DB2-DD0E-87CFBD4F4822}"/>
              </a:ext>
            </a:extLst>
          </p:cNvPr>
          <p:cNvSpPr txBox="1"/>
          <p:nvPr/>
        </p:nvSpPr>
        <p:spPr>
          <a:xfrm>
            <a:off x="3047246" y="5215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if-</a:t>
            </a:r>
            <a:r>
              <a:rPr lang="en-IN" b="0" i="0" dirty="0" err="1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elif</a:t>
            </a:r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-else Ladder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96E59-9FCE-D1AB-9635-590470B96FF5}"/>
              </a:ext>
            </a:extLst>
          </p:cNvPr>
          <p:cNvSpPr txBox="1"/>
          <p:nvPr/>
        </p:nvSpPr>
        <p:spPr>
          <a:xfrm>
            <a:off x="3047246" y="4254415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x = 11</a:t>
            </a:r>
          </a:p>
          <a:p>
            <a:r>
              <a:rPr lang="en-IN" dirty="0"/>
              <a:t>if x == 2:</a:t>
            </a:r>
          </a:p>
          <a:p>
            <a:r>
              <a:rPr lang="en-IN" dirty="0"/>
              <a:t> print("x is equal to 2")</a:t>
            </a:r>
          </a:p>
          <a:p>
            <a:r>
              <a:rPr lang="en-IN" dirty="0" err="1"/>
              <a:t>elif</a:t>
            </a:r>
            <a:r>
              <a:rPr lang="en-IN" dirty="0"/>
              <a:t> x == 3:</a:t>
            </a:r>
          </a:p>
          <a:p>
            <a:r>
              <a:rPr lang="en-IN" dirty="0"/>
              <a:t> print("x is equal to 3")</a:t>
            </a:r>
          </a:p>
          <a:p>
            <a:r>
              <a:rPr lang="en-IN" dirty="0" err="1"/>
              <a:t>elif</a:t>
            </a:r>
            <a:r>
              <a:rPr lang="en-IN" dirty="0"/>
              <a:t> x == 4:</a:t>
            </a:r>
          </a:p>
          <a:p>
            <a:r>
              <a:rPr lang="en-IN" dirty="0"/>
              <a:t> print("x is equal to 4")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print("x is not equal to 2, 3, or 4")</a:t>
            </a:r>
          </a:p>
          <a:p>
            <a:endParaRPr lang="en-IN" dirty="0"/>
          </a:p>
        </p:txBody>
      </p:sp>
      <p:pic>
        <p:nvPicPr>
          <p:cNvPr id="4098" name="Picture 2" descr="Python If Else Statements - Conditional ...">
            <a:extLst>
              <a:ext uri="{FF2B5EF4-FFF2-40B4-BE49-F238E27FC236}">
                <a16:creationId xmlns:a16="http://schemas.microsoft.com/office/drawing/2014/main" id="{9C18FE6B-511F-A052-D246-F276A30E5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373" y="1291076"/>
            <a:ext cx="4172218" cy="308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211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5A9FB0-0F33-0718-312D-47B5C0109ADE}"/>
              </a:ext>
            </a:extLst>
          </p:cNvPr>
          <p:cNvSpPr txBox="1"/>
          <p:nvPr/>
        </p:nvSpPr>
        <p:spPr>
          <a:xfrm>
            <a:off x="3047246" y="101039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Short Hand if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5A0B5-D856-17FC-B58D-966B249714FE}"/>
              </a:ext>
            </a:extLst>
          </p:cNvPr>
          <p:cNvSpPr txBox="1"/>
          <p:nvPr/>
        </p:nvSpPr>
        <p:spPr>
          <a:xfrm>
            <a:off x="3047246" y="1689462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 = 21</a:t>
            </a:r>
          </a:p>
          <a:p>
            <a:r>
              <a:rPr lang="en-IN" dirty="0"/>
              <a:t>if </a:t>
            </a:r>
            <a:r>
              <a:rPr lang="en-IN" dirty="0" err="1"/>
              <a:t>i</a:t>
            </a:r>
            <a:r>
              <a:rPr lang="en-IN" dirty="0"/>
              <a:t> &gt; 15: print("</a:t>
            </a:r>
            <a:r>
              <a:rPr lang="en-IN" dirty="0" err="1"/>
              <a:t>i</a:t>
            </a:r>
            <a:r>
              <a:rPr lang="en-IN" dirty="0"/>
              <a:t> is greater than 15")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2D7F5-EEC4-3254-F5D7-41B90D82F59E}"/>
              </a:ext>
            </a:extLst>
          </p:cNvPr>
          <p:cNvSpPr txBox="1"/>
          <p:nvPr/>
        </p:nvSpPr>
        <p:spPr>
          <a:xfrm>
            <a:off x="3047246" y="384412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Short Hand if-else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0189B-A855-967B-2DC0-BA2B9A86799A}"/>
              </a:ext>
            </a:extLst>
          </p:cNvPr>
          <p:cNvSpPr txBox="1"/>
          <p:nvPr/>
        </p:nvSpPr>
        <p:spPr>
          <a:xfrm>
            <a:off x="3047245" y="4593826"/>
            <a:ext cx="6549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age = 12</a:t>
            </a:r>
          </a:p>
          <a:p>
            <a:r>
              <a:rPr lang="en-IN" dirty="0"/>
              <a:t>message = "You can vote" if age &gt;= 18 else "You cannot vote yet"</a:t>
            </a:r>
          </a:p>
          <a:p>
            <a:r>
              <a:rPr lang="en-IN" dirty="0"/>
              <a:t>print(message)</a:t>
            </a:r>
          </a:p>
        </p:txBody>
      </p:sp>
    </p:spTree>
    <p:extLst>
      <p:ext uri="{BB962C8B-B14F-4D97-AF65-F5344CB8AC3E}">
        <p14:creationId xmlns:p14="http://schemas.microsoft.com/office/powerpoint/2010/main" val="19784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BE6839-D81F-B019-CFA3-E0AF534E07F8}"/>
              </a:ext>
            </a:extLst>
          </p:cNvPr>
          <p:cNvSpPr txBox="1"/>
          <p:nvPr/>
        </p:nvSpPr>
        <p:spPr>
          <a:xfrm>
            <a:off x="3047246" y="62109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Different Types of Loops in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7453F-03B7-9403-FCA6-B43206AAD6BA}"/>
              </a:ext>
            </a:extLst>
          </p:cNvPr>
          <p:cNvSpPr txBox="1"/>
          <p:nvPr/>
        </p:nvSpPr>
        <p:spPr>
          <a:xfrm>
            <a:off x="4922445" y="1312814"/>
            <a:ext cx="2347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while loop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for loop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nested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5403F-2CC4-C56C-26AD-719B313CD11D}"/>
              </a:ext>
            </a:extLst>
          </p:cNvPr>
          <p:cNvSpPr txBox="1"/>
          <p:nvPr/>
        </p:nvSpPr>
        <p:spPr>
          <a:xfrm>
            <a:off x="3990315" y="290216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1. </a:t>
            </a:r>
            <a:r>
              <a:rPr lang="en-IN" b="0" i="0" u="none" strike="noStrike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2"/>
              </a:rPr>
              <a:t>Python while loop</a:t>
            </a:r>
            <a:endParaRPr lang="en-IN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10" name="AutoShape 2" descr="Python while loop">
            <a:extLst>
              <a:ext uri="{FF2B5EF4-FFF2-40B4-BE49-F238E27FC236}">
                <a16:creationId xmlns:a16="http://schemas.microsoft.com/office/drawing/2014/main" id="{DF2CCE14-FA50-469D-EBA1-79AF2F0F40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443C1F-38F8-6163-D7E6-165E2AF6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315" y="3609092"/>
            <a:ext cx="3042234" cy="29246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B4E268-8BF3-5EC6-785A-82074B91DFA9}"/>
              </a:ext>
            </a:extLst>
          </p:cNvPr>
          <p:cNvSpPr txBox="1"/>
          <p:nvPr/>
        </p:nvSpPr>
        <p:spPr>
          <a:xfrm>
            <a:off x="7403095" y="4806522"/>
            <a:ext cx="30422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count = 0</a:t>
            </a:r>
          </a:p>
          <a:p>
            <a:r>
              <a:rPr lang="en-IN" dirty="0"/>
              <a:t>while (count &lt; 10):</a:t>
            </a:r>
          </a:p>
          <a:p>
            <a:r>
              <a:rPr lang="en-IN" dirty="0"/>
              <a:t>   print ('The count is:', count)</a:t>
            </a:r>
          </a:p>
          <a:p>
            <a:r>
              <a:rPr lang="en-IN" dirty="0"/>
              <a:t>   count = count + 1</a:t>
            </a:r>
          </a:p>
          <a:p>
            <a:r>
              <a:rPr lang="en-IN" dirty="0"/>
              <a:t>print ("Good bye!")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446BA-C735-8F9C-6C7E-F133C8DD4472}"/>
              </a:ext>
            </a:extLst>
          </p:cNvPr>
          <p:cNvSpPr txBox="1"/>
          <p:nvPr/>
        </p:nvSpPr>
        <p:spPr>
          <a:xfrm>
            <a:off x="9914299" y="6648780"/>
            <a:ext cx="22777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dirty="0">
                <a:hlinkClick r:id="rId2"/>
              </a:rPr>
              <a:t>https://www.scholarhat.com/tutorial/python/python-while-loop</a:t>
            </a:r>
            <a:endParaRPr lang="en-IN" sz="600" dirty="0"/>
          </a:p>
          <a:p>
            <a:endParaRPr lang="en-IN" sz="600" dirty="0"/>
          </a:p>
        </p:txBody>
      </p:sp>
    </p:spTree>
    <p:extLst>
      <p:ext uri="{BB962C8B-B14F-4D97-AF65-F5344CB8AC3E}">
        <p14:creationId xmlns:p14="http://schemas.microsoft.com/office/powerpoint/2010/main" val="3355723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2B782-8269-B040-711A-88772F91659D}"/>
              </a:ext>
            </a:extLst>
          </p:cNvPr>
          <p:cNvSpPr txBox="1"/>
          <p:nvPr/>
        </p:nvSpPr>
        <p:spPr>
          <a:xfrm>
            <a:off x="3047246" y="72973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2. </a:t>
            </a:r>
            <a:r>
              <a:rPr lang="en-IN" b="0" i="0" u="none" strike="noStrike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2"/>
              </a:rPr>
              <a:t>Python for loop</a:t>
            </a:r>
            <a:endParaRPr lang="en-IN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122D9-D9B6-61AF-64C2-5128630EC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88" y="1728881"/>
            <a:ext cx="4057650" cy="3762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F022C5-BC01-C4E9-C5A0-A884557DEAD6}"/>
              </a:ext>
            </a:extLst>
          </p:cNvPr>
          <p:cNvSpPr txBox="1"/>
          <p:nvPr/>
        </p:nvSpPr>
        <p:spPr>
          <a:xfrm>
            <a:off x="6190308" y="3839692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First Example</a:t>
            </a:r>
          </a:p>
          <a:p>
            <a:r>
              <a:rPr lang="en-IN" dirty="0"/>
              <a:t>for letter in 'Python': </a:t>
            </a:r>
          </a:p>
          <a:p>
            <a:r>
              <a:rPr lang="en-IN" dirty="0"/>
              <a:t>   print ('Current Letter :', letter)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Second Example</a:t>
            </a:r>
          </a:p>
          <a:p>
            <a:r>
              <a:rPr lang="en-IN" dirty="0"/>
              <a:t>fruits = ['guava', 'apple', 'mango']</a:t>
            </a:r>
          </a:p>
          <a:p>
            <a:r>
              <a:rPr lang="en-IN" dirty="0"/>
              <a:t>for fruit in fruits: </a:t>
            </a:r>
          </a:p>
          <a:p>
            <a:r>
              <a:rPr lang="en-IN" dirty="0"/>
              <a:t>   print ('Current fruit :', fruit)</a:t>
            </a:r>
          </a:p>
          <a:p>
            <a:endParaRPr lang="en-IN" dirty="0"/>
          </a:p>
          <a:p>
            <a:r>
              <a:rPr lang="en-IN" dirty="0"/>
              <a:t>print ("Good bye!")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043D3-B374-7D1D-C087-36ECC7D7BA7E}"/>
              </a:ext>
            </a:extLst>
          </p:cNvPr>
          <p:cNvSpPr txBox="1"/>
          <p:nvPr/>
        </p:nvSpPr>
        <p:spPr>
          <a:xfrm>
            <a:off x="9445027" y="6652273"/>
            <a:ext cx="2632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hlinkClick r:id="rId4"/>
              </a:rPr>
              <a:t>https://www.scholarhat.com/tutorial/python/python-while-loop</a:t>
            </a:r>
            <a:endParaRPr lang="en-IN" sz="700" dirty="0"/>
          </a:p>
          <a:p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3042801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BE4E48-EE9B-997F-6047-42E187661FF5}"/>
              </a:ext>
            </a:extLst>
          </p:cNvPr>
          <p:cNvSpPr txBox="1"/>
          <p:nvPr/>
        </p:nvSpPr>
        <p:spPr>
          <a:xfrm>
            <a:off x="3047246" y="62109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Nested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5FF3C-940A-B8A2-4BB7-5A10F8035964}"/>
              </a:ext>
            </a:extLst>
          </p:cNvPr>
          <p:cNvSpPr txBox="1"/>
          <p:nvPr/>
        </p:nvSpPr>
        <p:spPr>
          <a:xfrm>
            <a:off x="3048755" y="2138602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 = 2</a:t>
            </a:r>
          </a:p>
          <a:p>
            <a:r>
              <a:rPr lang="en-IN" dirty="0"/>
              <a:t>while(</a:t>
            </a:r>
            <a:r>
              <a:rPr lang="en-IN" dirty="0" err="1"/>
              <a:t>i</a:t>
            </a:r>
            <a:r>
              <a:rPr lang="en-IN" dirty="0"/>
              <a:t> &lt; 100):</a:t>
            </a:r>
          </a:p>
          <a:p>
            <a:r>
              <a:rPr lang="en-IN" dirty="0"/>
              <a:t> j = 2</a:t>
            </a:r>
          </a:p>
          <a:p>
            <a:r>
              <a:rPr lang="en-IN" dirty="0"/>
              <a:t> while(j &lt;= (</a:t>
            </a:r>
            <a:r>
              <a:rPr lang="en-IN" dirty="0" err="1"/>
              <a:t>i</a:t>
            </a:r>
            <a:r>
              <a:rPr lang="en-IN" dirty="0"/>
              <a:t>/j)):</a:t>
            </a:r>
          </a:p>
          <a:p>
            <a:r>
              <a:rPr lang="en-IN" dirty="0"/>
              <a:t>   if not(</a:t>
            </a:r>
            <a:r>
              <a:rPr lang="en-IN" dirty="0" err="1"/>
              <a:t>i%j</a:t>
            </a:r>
            <a:r>
              <a:rPr lang="en-IN" dirty="0"/>
              <a:t>): break</a:t>
            </a:r>
          </a:p>
          <a:p>
            <a:r>
              <a:rPr lang="en-IN" dirty="0"/>
              <a:t>   j = j + 1</a:t>
            </a:r>
          </a:p>
          <a:p>
            <a:r>
              <a:rPr lang="en-IN" dirty="0"/>
              <a:t> if (j &gt; </a:t>
            </a:r>
            <a:r>
              <a:rPr lang="en-IN" dirty="0" err="1"/>
              <a:t>i</a:t>
            </a:r>
            <a:r>
              <a:rPr lang="en-IN" dirty="0"/>
              <a:t>/j) : print (</a:t>
            </a:r>
            <a:r>
              <a:rPr lang="en-IN" dirty="0" err="1"/>
              <a:t>i</a:t>
            </a:r>
            <a:r>
              <a:rPr lang="en-IN" dirty="0"/>
              <a:t>, " is prime")</a:t>
            </a:r>
          </a:p>
          <a:p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i</a:t>
            </a:r>
            <a:r>
              <a:rPr lang="en-IN" dirty="0"/>
              <a:t> + 1</a:t>
            </a:r>
          </a:p>
          <a:p>
            <a:r>
              <a:rPr lang="en-IN" dirty="0"/>
              <a:t>print ("Good bye!")</a:t>
            </a:r>
          </a:p>
        </p:txBody>
      </p:sp>
    </p:spTree>
    <p:extLst>
      <p:ext uri="{BB962C8B-B14F-4D97-AF65-F5344CB8AC3E}">
        <p14:creationId xmlns:p14="http://schemas.microsoft.com/office/powerpoint/2010/main" val="4072540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FB95E-FA8B-D68C-050B-9A76249CE71D}"/>
              </a:ext>
            </a:extLst>
          </p:cNvPr>
          <p:cNvSpPr txBox="1"/>
          <p:nvPr/>
        </p:nvSpPr>
        <p:spPr>
          <a:xfrm>
            <a:off x="2860329" y="140130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Loop Control Statements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FC4CE-0E42-95EA-CF66-A9AB11F23BD3}"/>
              </a:ext>
            </a:extLst>
          </p:cNvPr>
          <p:cNvSpPr txBox="1"/>
          <p:nvPr/>
        </p:nvSpPr>
        <p:spPr>
          <a:xfrm>
            <a:off x="5183675" y="2398237"/>
            <a:ext cx="1450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Break</a:t>
            </a:r>
          </a:p>
          <a:p>
            <a:pPr algn="just">
              <a:buFont typeface="+mj-lt"/>
              <a:buAutoNum type="arabicPeriod"/>
            </a:pPr>
            <a:r>
              <a:rPr lang="en-IN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Continue</a:t>
            </a:r>
          </a:p>
          <a:p>
            <a:pPr algn="just">
              <a:buFont typeface="+mj-lt"/>
              <a:buAutoNum type="arabicPeriod"/>
            </a:pPr>
            <a:r>
              <a:rPr lang="en-IN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46931-9826-3827-FE65-4D465D0AA1AD}"/>
              </a:ext>
            </a:extLst>
          </p:cNvPr>
          <p:cNvSpPr txBox="1"/>
          <p:nvPr/>
        </p:nvSpPr>
        <p:spPr>
          <a:xfrm>
            <a:off x="796328" y="4332083"/>
            <a:ext cx="1052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Break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52BB0-BAE5-3B93-81A6-DF5DF433B1CC}"/>
              </a:ext>
            </a:extLst>
          </p:cNvPr>
          <p:cNvSpPr txBox="1"/>
          <p:nvPr/>
        </p:nvSpPr>
        <p:spPr>
          <a:xfrm>
            <a:off x="796328" y="4516749"/>
            <a:ext cx="18310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</a:p>
          <a:p>
            <a:r>
              <a:rPr lang="en-IN" dirty="0"/>
              <a:t>  if </a:t>
            </a:r>
            <a:r>
              <a:rPr lang="en-IN" dirty="0" err="1"/>
              <a:t>i</a:t>
            </a:r>
            <a:r>
              <a:rPr lang="en-IN" dirty="0"/>
              <a:t> == 5:</a:t>
            </a:r>
          </a:p>
          <a:p>
            <a:r>
              <a:rPr lang="en-IN" dirty="0"/>
              <a:t>    break</a:t>
            </a:r>
          </a:p>
          <a:p>
            <a:r>
              <a:rPr lang="en-IN" dirty="0"/>
              <a:t>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B9FC3-9D9F-4522-F7A3-F15DDF8DAD8A}"/>
              </a:ext>
            </a:extLst>
          </p:cNvPr>
          <p:cNvSpPr txBox="1"/>
          <p:nvPr/>
        </p:nvSpPr>
        <p:spPr>
          <a:xfrm>
            <a:off x="5183675" y="431850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Continue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445A3-BFAD-5692-E002-9B1F0A034586}"/>
              </a:ext>
            </a:extLst>
          </p:cNvPr>
          <p:cNvSpPr txBox="1"/>
          <p:nvPr/>
        </p:nvSpPr>
        <p:spPr>
          <a:xfrm>
            <a:off x="5183675" y="4503169"/>
            <a:ext cx="19849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</a:p>
          <a:p>
            <a:r>
              <a:rPr lang="en-IN" dirty="0"/>
              <a:t>  if </a:t>
            </a:r>
            <a:r>
              <a:rPr lang="en-IN" dirty="0" err="1"/>
              <a:t>i</a:t>
            </a:r>
            <a:r>
              <a:rPr lang="en-IN" dirty="0"/>
              <a:t> % 2 == 0:</a:t>
            </a:r>
          </a:p>
          <a:p>
            <a:r>
              <a:rPr lang="en-IN" dirty="0"/>
              <a:t>    continue</a:t>
            </a:r>
          </a:p>
          <a:p>
            <a:r>
              <a:rPr lang="en-IN" dirty="0"/>
              <a:t>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44519E-923D-E3B5-3724-D0B6AD29E1EE}"/>
              </a:ext>
            </a:extLst>
          </p:cNvPr>
          <p:cNvSpPr txBox="1"/>
          <p:nvPr/>
        </p:nvSpPr>
        <p:spPr>
          <a:xfrm>
            <a:off x="9459741" y="4318503"/>
            <a:ext cx="99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FF9C2-3348-2791-B094-4D6C4BF61612}"/>
              </a:ext>
            </a:extLst>
          </p:cNvPr>
          <p:cNvSpPr txBox="1"/>
          <p:nvPr/>
        </p:nvSpPr>
        <p:spPr>
          <a:xfrm>
            <a:off x="9431070" y="4793748"/>
            <a:ext cx="20392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</a:p>
          <a:p>
            <a:r>
              <a:rPr lang="en-IN" dirty="0"/>
              <a:t>  # Do nothing</a:t>
            </a:r>
          </a:p>
          <a:p>
            <a:r>
              <a:rPr lang="en-IN" dirty="0"/>
              <a:t>  pass</a:t>
            </a:r>
          </a:p>
        </p:txBody>
      </p:sp>
    </p:spTree>
    <p:extLst>
      <p:ext uri="{BB962C8B-B14F-4D97-AF65-F5344CB8AC3E}">
        <p14:creationId xmlns:p14="http://schemas.microsoft.com/office/powerpoint/2010/main" val="2406563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B73399-FE87-BD56-7A9F-DFA097DFA721}"/>
              </a:ext>
            </a:extLst>
          </p:cNvPr>
          <p:cNvSpPr txBox="1"/>
          <p:nvPr/>
        </p:nvSpPr>
        <p:spPr>
          <a:xfrm>
            <a:off x="3047246" y="5215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b="1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urce Sans 3"/>
              </a:rPr>
              <a:t>Python Match Case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8A461-8BE3-B45B-5821-81D8CCF84F0A}"/>
              </a:ext>
            </a:extLst>
          </p:cNvPr>
          <p:cNvSpPr txBox="1"/>
          <p:nvPr/>
        </p:nvSpPr>
        <p:spPr>
          <a:xfrm>
            <a:off x="3130236" y="1022514"/>
            <a:ext cx="60975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simple match case statement</a:t>
            </a:r>
          </a:p>
          <a:p>
            <a:r>
              <a:rPr lang="en-IN" dirty="0"/>
              <a:t>def </a:t>
            </a:r>
            <a:r>
              <a:rPr lang="en-IN" dirty="0" err="1"/>
              <a:t>runMatch</a:t>
            </a:r>
            <a:r>
              <a:rPr lang="en-IN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num</a:t>
            </a:r>
            <a:r>
              <a:rPr lang="en-IN" dirty="0"/>
              <a:t> = int(input("Enter a number between 1 and 3: "))</a:t>
            </a:r>
          </a:p>
          <a:p>
            <a:r>
              <a:rPr lang="en-IN" dirty="0"/>
              <a:t>    </a:t>
            </a:r>
            <a:r>
              <a:rPr lang="en-IN" dirty="0" err="1"/>
              <a:t>num</a:t>
            </a:r>
            <a:r>
              <a:rPr lang="en-IN" dirty="0"/>
              <a:t>=1</a:t>
            </a:r>
          </a:p>
          <a:p>
            <a:r>
              <a:rPr lang="en-IN" dirty="0">
                <a:solidFill>
                  <a:srgbClr val="00B050"/>
                </a:solidFill>
              </a:rPr>
              <a:t>    # match case</a:t>
            </a:r>
          </a:p>
          <a:p>
            <a:r>
              <a:rPr lang="en-IN" dirty="0"/>
              <a:t>    match </a:t>
            </a:r>
            <a:r>
              <a:rPr lang="en-IN" dirty="0" err="1"/>
              <a:t>num</a:t>
            </a:r>
            <a:r>
              <a:rPr lang="en-IN" dirty="0"/>
              <a:t>:</a:t>
            </a:r>
          </a:p>
          <a:p>
            <a:r>
              <a:rPr lang="en-IN" dirty="0">
                <a:solidFill>
                  <a:srgbClr val="00B050"/>
                </a:solidFill>
              </a:rPr>
              <a:t>        # pattern 1</a:t>
            </a:r>
          </a:p>
          <a:p>
            <a:r>
              <a:rPr lang="en-IN" dirty="0"/>
              <a:t>        case 1:</a:t>
            </a:r>
          </a:p>
          <a:p>
            <a:r>
              <a:rPr lang="en-IN" dirty="0"/>
              <a:t>            print("One")</a:t>
            </a:r>
          </a:p>
          <a:p>
            <a:r>
              <a:rPr lang="en-IN" dirty="0">
                <a:solidFill>
                  <a:srgbClr val="00B050"/>
                </a:solidFill>
              </a:rPr>
              <a:t># pattern 2</a:t>
            </a:r>
          </a:p>
          <a:p>
            <a:r>
              <a:rPr lang="en-IN" dirty="0"/>
              <a:t>        case 2:</a:t>
            </a:r>
          </a:p>
          <a:p>
            <a:r>
              <a:rPr lang="en-IN" dirty="0"/>
              <a:t>            print("Two")</a:t>
            </a:r>
          </a:p>
          <a:p>
            <a:r>
              <a:rPr lang="en-IN" dirty="0"/>
              <a:t>        </a:t>
            </a:r>
            <a:r>
              <a:rPr lang="en-IN" dirty="0">
                <a:solidFill>
                  <a:srgbClr val="00B050"/>
                </a:solidFill>
              </a:rPr>
              <a:t># pattern 3</a:t>
            </a:r>
          </a:p>
          <a:p>
            <a:r>
              <a:rPr lang="en-IN" dirty="0"/>
              <a:t>        case 3:</a:t>
            </a:r>
          </a:p>
          <a:p>
            <a:r>
              <a:rPr lang="en-IN" dirty="0"/>
              <a:t>            print("Three")</a:t>
            </a:r>
          </a:p>
          <a:p>
            <a:r>
              <a:rPr lang="en-IN" dirty="0"/>
              <a:t>        </a:t>
            </a:r>
            <a:r>
              <a:rPr lang="en-IN" dirty="0">
                <a:solidFill>
                  <a:srgbClr val="00B050"/>
                </a:solidFill>
              </a:rPr>
              <a:t># default pattern</a:t>
            </a:r>
          </a:p>
          <a:p>
            <a:r>
              <a:rPr lang="en-IN" dirty="0"/>
              <a:t>        case _:</a:t>
            </a:r>
          </a:p>
          <a:p>
            <a:r>
              <a:rPr lang="en-IN" dirty="0"/>
              <a:t>            print("Number not between 1 and 3")</a:t>
            </a:r>
          </a:p>
          <a:p>
            <a:r>
              <a:rPr lang="en-IN" dirty="0"/>
              <a:t>            </a:t>
            </a:r>
          </a:p>
          <a:p>
            <a:r>
              <a:rPr lang="en-IN" dirty="0" err="1"/>
              <a:t>runMatch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47514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547D3C-D28C-713C-89C8-89A6FA9D158D}"/>
              </a:ext>
            </a:extLst>
          </p:cNvPr>
          <p:cNvSpPr txBox="1"/>
          <p:nvPr/>
        </p:nvSpPr>
        <p:spPr>
          <a:xfrm>
            <a:off x="622426" y="102849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1.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C0C12-20EF-17AA-95C7-A9AD30ED8D8D}"/>
              </a:ext>
            </a:extLst>
          </p:cNvPr>
          <p:cNvSpPr txBox="1"/>
          <p:nvPr/>
        </p:nvSpPr>
        <p:spPr>
          <a:xfrm>
            <a:off x="3047246" y="14872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List, Tuple, String, and Dictionary Iteration Using for Loops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26039-FC95-4AE9-3ECA-3E010EC657E5}"/>
              </a:ext>
            </a:extLst>
          </p:cNvPr>
          <p:cNvSpPr txBox="1"/>
          <p:nvPr/>
        </p:nvSpPr>
        <p:spPr>
          <a:xfrm>
            <a:off x="622426" y="1397830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3, 4, 5]</a:t>
            </a:r>
          </a:p>
          <a:p>
            <a:endParaRPr lang="en-IN" dirty="0"/>
          </a:p>
          <a:p>
            <a:r>
              <a:rPr lang="en-IN" dirty="0"/>
              <a:t>for item in </a:t>
            </a:r>
            <a:r>
              <a:rPr lang="en-IN" dirty="0" err="1"/>
              <a:t>my_list</a:t>
            </a:r>
            <a:r>
              <a:rPr lang="en-IN" dirty="0"/>
              <a:t>:</a:t>
            </a:r>
          </a:p>
          <a:p>
            <a:r>
              <a:rPr lang="en-IN" dirty="0"/>
              <a:t>    print(item)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0729E-4FA3-5D16-ED9F-09DC2C098D72}"/>
              </a:ext>
            </a:extLst>
          </p:cNvPr>
          <p:cNvSpPr txBox="1"/>
          <p:nvPr/>
        </p:nvSpPr>
        <p:spPr>
          <a:xfrm>
            <a:off x="622426" y="305966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2. Tuples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8D2BF-CD84-50CF-30FA-FE4C9F53F5ED}"/>
              </a:ext>
            </a:extLst>
          </p:cNvPr>
          <p:cNvSpPr txBox="1"/>
          <p:nvPr/>
        </p:nvSpPr>
        <p:spPr>
          <a:xfrm>
            <a:off x="622426" y="3429000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(10, 20, 30, 40, 50)</a:t>
            </a:r>
          </a:p>
          <a:p>
            <a:endParaRPr lang="en-IN" dirty="0"/>
          </a:p>
          <a:p>
            <a:r>
              <a:rPr lang="en-IN" dirty="0"/>
              <a:t>for item in </a:t>
            </a:r>
            <a:r>
              <a:rPr lang="en-IN" dirty="0" err="1"/>
              <a:t>my_tuple</a:t>
            </a:r>
            <a:r>
              <a:rPr lang="en-IN" dirty="0"/>
              <a:t>:</a:t>
            </a:r>
          </a:p>
          <a:p>
            <a:r>
              <a:rPr lang="en-IN" dirty="0"/>
              <a:t>    print(item)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78495-8ACC-CFA1-EFF0-A00B46B73D27}"/>
              </a:ext>
            </a:extLst>
          </p:cNvPr>
          <p:cNvSpPr txBox="1"/>
          <p:nvPr/>
        </p:nvSpPr>
        <p:spPr>
          <a:xfrm>
            <a:off x="622426" y="50908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 Strings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30D3DF-823F-3E87-EC8B-54A202D78DEA}"/>
              </a:ext>
            </a:extLst>
          </p:cNvPr>
          <p:cNvSpPr txBox="1"/>
          <p:nvPr/>
        </p:nvSpPr>
        <p:spPr>
          <a:xfrm>
            <a:off x="622426" y="5583353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my_string</a:t>
            </a:r>
            <a:r>
              <a:rPr lang="en-IN" dirty="0"/>
              <a:t> = "hello"</a:t>
            </a:r>
          </a:p>
          <a:p>
            <a:endParaRPr lang="en-IN" dirty="0"/>
          </a:p>
          <a:p>
            <a:r>
              <a:rPr lang="en-IN" dirty="0"/>
              <a:t>for char in </a:t>
            </a:r>
            <a:r>
              <a:rPr lang="en-IN" dirty="0" err="1"/>
              <a:t>my_string</a:t>
            </a:r>
            <a:r>
              <a:rPr lang="en-IN" dirty="0"/>
              <a:t>:</a:t>
            </a:r>
          </a:p>
          <a:p>
            <a:r>
              <a:rPr lang="en-IN" dirty="0"/>
              <a:t>    print(char)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23E2BE-7F4A-94A3-1476-8EDBA8489BC1}"/>
              </a:ext>
            </a:extLst>
          </p:cNvPr>
          <p:cNvSpPr txBox="1"/>
          <p:nvPr/>
        </p:nvSpPr>
        <p:spPr>
          <a:xfrm>
            <a:off x="6253682" y="107458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4. Dictionaries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D8F386-5EFD-F9AE-A764-0881039D8794}"/>
              </a:ext>
            </a:extLst>
          </p:cNvPr>
          <p:cNvSpPr txBox="1"/>
          <p:nvPr/>
        </p:nvSpPr>
        <p:spPr>
          <a:xfrm>
            <a:off x="6253682" y="2834130"/>
            <a:ext cx="6174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 = {'a': 1, 'b': 2, 'c': 3}</a:t>
            </a:r>
          </a:p>
          <a:p>
            <a:endParaRPr lang="en-IN" dirty="0"/>
          </a:p>
          <a:p>
            <a:r>
              <a:rPr lang="en-IN" dirty="0"/>
              <a:t>for key in </a:t>
            </a:r>
            <a:r>
              <a:rPr lang="en-IN" dirty="0" err="1"/>
              <a:t>my_dict</a:t>
            </a:r>
            <a:r>
              <a:rPr lang="en-IN" dirty="0"/>
              <a:t>:</a:t>
            </a:r>
          </a:p>
          <a:p>
            <a:r>
              <a:rPr lang="en-IN" dirty="0"/>
              <a:t>    print(key)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1B117E57-F23F-72CB-26DF-00FEBEDB8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682" y="1482352"/>
            <a:ext cx="403270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Keys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 over the keys of the dictionary.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 over the values of the dictionary.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Items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 over key-value pairs.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D3E907-38F4-24D3-CEF2-B2BC387AE4C2}"/>
              </a:ext>
            </a:extLst>
          </p:cNvPr>
          <p:cNvSpPr txBox="1"/>
          <p:nvPr/>
        </p:nvSpPr>
        <p:spPr>
          <a:xfrm>
            <a:off x="6256700" y="4259997"/>
            <a:ext cx="6215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value in </a:t>
            </a:r>
            <a:r>
              <a:rPr lang="en-IN" dirty="0" err="1"/>
              <a:t>my_dict.values</a:t>
            </a:r>
            <a:r>
              <a:rPr lang="en-IN" dirty="0"/>
              <a:t>():</a:t>
            </a:r>
          </a:p>
          <a:p>
            <a:r>
              <a:rPr lang="en-IN" dirty="0"/>
              <a:t>    print(value)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C40679-E54E-7287-1F1B-B60BBFC3746A}"/>
              </a:ext>
            </a:extLst>
          </p:cNvPr>
          <p:cNvSpPr txBox="1"/>
          <p:nvPr/>
        </p:nvSpPr>
        <p:spPr>
          <a:xfrm>
            <a:off x="6253682" y="5321514"/>
            <a:ext cx="623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key, value in </a:t>
            </a:r>
            <a:r>
              <a:rPr lang="en-IN" dirty="0" err="1"/>
              <a:t>my_dict.items</a:t>
            </a:r>
            <a:r>
              <a:rPr lang="en-IN" dirty="0"/>
              <a:t>():</a:t>
            </a:r>
          </a:p>
          <a:p>
            <a:r>
              <a:rPr lang="en-IN" dirty="0"/>
              <a:t>    print(</a:t>
            </a:r>
            <a:r>
              <a:rPr lang="en-IN" dirty="0" err="1"/>
              <a:t>f"Key</a:t>
            </a:r>
            <a:r>
              <a:rPr lang="en-IN" dirty="0"/>
              <a:t>: {key}, Value: {value}")</a:t>
            </a:r>
          </a:p>
        </p:txBody>
      </p:sp>
    </p:spTree>
    <p:extLst>
      <p:ext uri="{BB962C8B-B14F-4D97-AF65-F5344CB8AC3E}">
        <p14:creationId xmlns:p14="http://schemas.microsoft.com/office/powerpoint/2010/main" val="1175901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Data Structures in Python">
            <a:extLst>
              <a:ext uri="{FF2B5EF4-FFF2-40B4-BE49-F238E27FC236}">
                <a16:creationId xmlns:a16="http://schemas.microsoft.com/office/drawing/2014/main" id="{8A4C8C69-0609-B151-66CD-6B61BC594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0"/>
            <a:ext cx="8440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491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594DF4-642E-6C80-7CB5-430A158AE747}"/>
              </a:ext>
            </a:extLst>
          </p:cNvPr>
          <p:cNvSpPr txBox="1"/>
          <p:nvPr/>
        </p:nvSpPr>
        <p:spPr>
          <a:xfrm>
            <a:off x="3628177" y="29247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Built-In Data Structures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C589A-5B5D-D82C-6C21-5EFF0DE0FBC5}"/>
              </a:ext>
            </a:extLst>
          </p:cNvPr>
          <p:cNvSpPr txBox="1"/>
          <p:nvPr/>
        </p:nvSpPr>
        <p:spPr>
          <a:xfrm>
            <a:off x="3047246" y="124578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Python Lists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9F9A3-4F6C-92C2-7CD9-E7818BCC6434}"/>
              </a:ext>
            </a:extLst>
          </p:cNvPr>
          <p:cNvSpPr txBox="1"/>
          <p:nvPr/>
        </p:nvSpPr>
        <p:spPr>
          <a:xfrm>
            <a:off x="486624" y="2681220"/>
            <a:ext cx="60975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Initializing a List</a:t>
            </a:r>
          </a:p>
          <a:p>
            <a:r>
              <a:rPr lang="en-IN" dirty="0" err="1"/>
              <a:t>myList</a:t>
            </a:r>
            <a:r>
              <a:rPr lang="en-IN" dirty="0"/>
              <a:t> = ["</a:t>
            </a:r>
            <a:r>
              <a:rPr lang="en-IN" dirty="0" err="1"/>
              <a:t>ScholarHat</a:t>
            </a:r>
            <a:r>
              <a:rPr lang="en-IN" dirty="0"/>
              <a:t>", "Shailendra </a:t>
            </a:r>
            <a:r>
              <a:rPr lang="en-IN" dirty="0" err="1"/>
              <a:t>Chuauhan</a:t>
            </a:r>
            <a:r>
              <a:rPr lang="en-IN" dirty="0"/>
              <a:t>", "Girdhar Singh"]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Display the list</a:t>
            </a:r>
          </a:p>
          <a:p>
            <a:r>
              <a:rPr lang="en-IN" dirty="0"/>
              <a:t>print("A diverse Python list: ")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Creating a Nested List</a:t>
            </a:r>
          </a:p>
          <a:p>
            <a:r>
              <a:rPr lang="en-IN" dirty="0" err="1"/>
              <a:t>nestedList</a:t>
            </a:r>
            <a:r>
              <a:rPr lang="en-IN" dirty="0"/>
              <a:t> = [["Sakshi", "Sourav"], ["Pradnya", "Pragati"]]</a:t>
            </a:r>
          </a:p>
          <a:p>
            <a:r>
              <a:rPr lang="en-IN" dirty="0"/>
              <a:t>print("\</a:t>
            </a:r>
            <a:r>
              <a:rPr lang="en-IN" dirty="0" err="1"/>
              <a:t>nNested</a:t>
            </a:r>
            <a:r>
              <a:rPr lang="en-IN" dirty="0"/>
              <a:t> List: ")</a:t>
            </a:r>
          </a:p>
          <a:p>
            <a:r>
              <a:rPr lang="en-IN" dirty="0"/>
              <a:t>print(</a:t>
            </a:r>
            <a:r>
              <a:rPr lang="en-IN" dirty="0" err="1"/>
              <a:t>nestedList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61140-7D89-0789-BAD8-7A5A944293AB}"/>
              </a:ext>
            </a:extLst>
          </p:cNvPr>
          <p:cNvSpPr txBox="1"/>
          <p:nvPr/>
        </p:nvSpPr>
        <p:spPr>
          <a:xfrm>
            <a:off x="6385711" y="2691668"/>
            <a:ext cx="60975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Accessing elements from the list</a:t>
            </a:r>
          </a:p>
          <a:p>
            <a:r>
              <a:rPr lang="en-IN" dirty="0"/>
              <a:t>print("\</a:t>
            </a:r>
            <a:r>
              <a:rPr lang="en-IN" dirty="0" err="1"/>
              <a:t>nAccessing</a:t>
            </a:r>
            <a:r>
              <a:rPr lang="en-IN" dirty="0"/>
              <a:t> elements from the list:")</a:t>
            </a:r>
          </a:p>
          <a:p>
            <a:r>
              <a:rPr lang="en-IN" dirty="0"/>
              <a:t>print(</a:t>
            </a:r>
            <a:r>
              <a:rPr lang="en-IN" dirty="0" err="1"/>
              <a:t>nestedList</a:t>
            </a:r>
            <a:r>
              <a:rPr lang="en-IN" dirty="0"/>
              <a:t>[0][1])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[2])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Accessing elements using negative indexing</a:t>
            </a:r>
          </a:p>
          <a:p>
            <a:r>
              <a:rPr lang="en-IN" dirty="0"/>
              <a:t>print("\</a:t>
            </a:r>
            <a:r>
              <a:rPr lang="en-IN" dirty="0" err="1"/>
              <a:t>nAccessing</a:t>
            </a:r>
            <a:r>
              <a:rPr lang="en-IN" dirty="0"/>
              <a:t> elements with negative indexing:")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Print the last element of the list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[-1])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Print the second last element of the list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[-2])</a:t>
            </a:r>
          </a:p>
        </p:txBody>
      </p:sp>
    </p:spTree>
    <p:extLst>
      <p:ext uri="{BB962C8B-B14F-4D97-AF65-F5344CB8AC3E}">
        <p14:creationId xmlns:p14="http://schemas.microsoft.com/office/powerpoint/2010/main" val="994671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41E94A-651E-ACE0-7C65-62B1A53D1BB4}"/>
              </a:ext>
            </a:extLst>
          </p:cNvPr>
          <p:cNvSpPr txBox="1"/>
          <p:nvPr/>
        </p:nvSpPr>
        <p:spPr>
          <a:xfrm>
            <a:off x="115432" y="28611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1. </a:t>
            </a:r>
            <a:r>
              <a:rPr lang="en-IN" b="1" dirty="0">
                <a:solidFill>
                  <a:srgbClr val="FF0000"/>
                </a:solidFill>
              </a:rPr>
              <a:t>Add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93E3E-5F99-DA86-C941-225176253708}"/>
              </a:ext>
            </a:extLst>
          </p:cNvPr>
          <p:cNvSpPr txBox="1"/>
          <p:nvPr/>
        </p:nvSpPr>
        <p:spPr>
          <a:xfrm>
            <a:off x="115432" y="65544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my_list.append</a:t>
            </a:r>
            <a:r>
              <a:rPr lang="en-IN" dirty="0"/>
              <a:t>(4)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3, 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68CEF-7092-648A-5C5A-B0557867BD21}"/>
              </a:ext>
            </a:extLst>
          </p:cNvPr>
          <p:cNvSpPr txBox="1"/>
          <p:nvPr/>
        </p:nvSpPr>
        <p:spPr>
          <a:xfrm>
            <a:off x="115432" y="130177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my_list.extend</a:t>
            </a:r>
            <a:r>
              <a:rPr lang="en-IN" dirty="0"/>
              <a:t>([4, 5])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3, 4, 5]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ED3FF-C47A-1A89-187B-B6856C54B6F4}"/>
              </a:ext>
            </a:extLst>
          </p:cNvPr>
          <p:cNvSpPr txBox="1"/>
          <p:nvPr/>
        </p:nvSpPr>
        <p:spPr>
          <a:xfrm>
            <a:off x="115432" y="194810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my_list.insert</a:t>
            </a:r>
            <a:r>
              <a:rPr lang="en-IN" dirty="0"/>
              <a:t>(1, 1.5)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1.5, 2, 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D0167-F0FD-4E61-31F5-F738EA1B5138}"/>
              </a:ext>
            </a:extLst>
          </p:cNvPr>
          <p:cNvSpPr txBox="1"/>
          <p:nvPr/>
        </p:nvSpPr>
        <p:spPr>
          <a:xfrm>
            <a:off x="115432" y="287106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2. </a:t>
            </a:r>
            <a:r>
              <a:rPr lang="en-IN" b="1" dirty="0">
                <a:solidFill>
                  <a:srgbClr val="FF0000"/>
                </a:solidFill>
              </a:rPr>
              <a:t>Modify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86B45-A23D-B160-6593-4E8430E3B06F}"/>
              </a:ext>
            </a:extLst>
          </p:cNvPr>
          <p:cNvSpPr txBox="1"/>
          <p:nvPr/>
        </p:nvSpPr>
        <p:spPr>
          <a:xfrm>
            <a:off x="115432" y="3240399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/>
              <a:t>index = </a:t>
            </a:r>
            <a:r>
              <a:rPr lang="en-IN" dirty="0" err="1"/>
              <a:t>my_list.index</a:t>
            </a:r>
            <a:r>
              <a:rPr lang="en-IN" dirty="0"/>
              <a:t>(2)  </a:t>
            </a:r>
            <a:r>
              <a:rPr lang="en-IN" dirty="0">
                <a:solidFill>
                  <a:srgbClr val="00B050"/>
                </a:solidFill>
              </a:rPr>
              <a:t># index becomes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6BAFC7-9EDB-B69B-9079-D19CAAA52846}"/>
              </a:ext>
            </a:extLst>
          </p:cNvPr>
          <p:cNvSpPr txBox="1"/>
          <p:nvPr/>
        </p:nvSpPr>
        <p:spPr>
          <a:xfrm>
            <a:off x="115432" y="4004391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2, 3]</a:t>
            </a:r>
          </a:p>
          <a:p>
            <a:r>
              <a:rPr lang="en-IN" dirty="0"/>
              <a:t>count = </a:t>
            </a:r>
            <a:r>
              <a:rPr lang="en-IN" dirty="0" err="1"/>
              <a:t>my_list.count</a:t>
            </a:r>
            <a:r>
              <a:rPr lang="en-IN" dirty="0"/>
              <a:t>(2)  </a:t>
            </a:r>
            <a:r>
              <a:rPr lang="en-IN" dirty="0">
                <a:solidFill>
                  <a:srgbClr val="00B050"/>
                </a:solidFill>
              </a:rPr>
              <a:t># count becomes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49921-0877-C389-18FE-14DE416C1B82}"/>
              </a:ext>
            </a:extLst>
          </p:cNvPr>
          <p:cNvSpPr txBox="1"/>
          <p:nvPr/>
        </p:nvSpPr>
        <p:spPr>
          <a:xfrm>
            <a:off x="6670141" y="28611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 </a:t>
            </a:r>
            <a:r>
              <a:rPr lang="en-IN" b="1" dirty="0">
                <a:solidFill>
                  <a:srgbClr val="FF0000"/>
                </a:solidFill>
              </a:rPr>
              <a:t>Delete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9AA55F-3554-2650-311F-9A521D188D4F}"/>
              </a:ext>
            </a:extLst>
          </p:cNvPr>
          <p:cNvSpPr txBox="1"/>
          <p:nvPr/>
        </p:nvSpPr>
        <p:spPr>
          <a:xfrm>
            <a:off x="6670141" y="623947"/>
            <a:ext cx="6382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my_list.remove</a:t>
            </a:r>
            <a:r>
              <a:rPr lang="en-IN" dirty="0"/>
              <a:t>(2)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3]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3D0F94-8866-9A96-CDD2-F428AE2029BA}"/>
              </a:ext>
            </a:extLst>
          </p:cNvPr>
          <p:cNvSpPr txBox="1"/>
          <p:nvPr/>
        </p:nvSpPr>
        <p:spPr>
          <a:xfrm>
            <a:off x="6638454" y="1301777"/>
            <a:ext cx="49680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/>
              <a:t>element = </a:t>
            </a:r>
            <a:r>
              <a:rPr lang="en-IN" dirty="0" err="1"/>
              <a:t>my_list.pop</a:t>
            </a:r>
            <a:r>
              <a:rPr lang="en-IN" dirty="0"/>
              <a:t>()  </a:t>
            </a:r>
          </a:p>
          <a:p>
            <a:r>
              <a:rPr lang="en-IN" dirty="0">
                <a:solidFill>
                  <a:srgbClr val="00B050"/>
                </a:solidFill>
              </a:rPr>
              <a:t># element becomes 3,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1519F4-C494-94E4-7F3C-3DFFA4765E51}"/>
              </a:ext>
            </a:extLst>
          </p:cNvPr>
          <p:cNvSpPr txBox="1"/>
          <p:nvPr/>
        </p:nvSpPr>
        <p:spPr>
          <a:xfrm>
            <a:off x="6670141" y="2348230"/>
            <a:ext cx="6613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my_list.clear</a:t>
            </a:r>
            <a:r>
              <a:rPr lang="en-IN" dirty="0"/>
              <a:t>()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5E52F4-96D5-77DC-982B-BFFA75AFF2C6}"/>
              </a:ext>
            </a:extLst>
          </p:cNvPr>
          <p:cNvSpPr txBox="1"/>
          <p:nvPr/>
        </p:nvSpPr>
        <p:spPr>
          <a:xfrm>
            <a:off x="6638454" y="3107889"/>
            <a:ext cx="664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4. </a:t>
            </a:r>
            <a:r>
              <a:rPr lang="en-IN" b="1" dirty="0">
                <a:solidFill>
                  <a:srgbClr val="FF0000"/>
                </a:solidFill>
              </a:rPr>
              <a:t>Sort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DF386-DF92-1AB4-4880-2DB815E1BD4D}"/>
              </a:ext>
            </a:extLst>
          </p:cNvPr>
          <p:cNvSpPr txBox="1"/>
          <p:nvPr/>
        </p:nvSpPr>
        <p:spPr>
          <a:xfrm>
            <a:off x="6670141" y="3502245"/>
            <a:ext cx="6640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[3, 1, 2]</a:t>
            </a:r>
          </a:p>
          <a:p>
            <a:r>
              <a:rPr lang="en-IN" dirty="0" err="1"/>
              <a:t>my_list.sort</a:t>
            </a:r>
            <a:r>
              <a:rPr lang="en-IN" dirty="0"/>
              <a:t>()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3]</a:t>
            </a:r>
          </a:p>
          <a:p>
            <a:r>
              <a:rPr lang="en-IN" dirty="0" err="1"/>
              <a:t>my_list.sort</a:t>
            </a:r>
            <a:r>
              <a:rPr lang="en-IN" dirty="0"/>
              <a:t>(reverse=True)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[3, 2, 1]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B617A8-BE77-0069-4088-2E36485FB6C3}"/>
              </a:ext>
            </a:extLst>
          </p:cNvPr>
          <p:cNvSpPr txBox="1"/>
          <p:nvPr/>
        </p:nvSpPr>
        <p:spPr>
          <a:xfrm>
            <a:off x="6670141" y="4450599"/>
            <a:ext cx="6654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[3, 1, 2]</a:t>
            </a:r>
          </a:p>
          <a:p>
            <a:r>
              <a:rPr lang="en-IN" dirty="0" err="1"/>
              <a:t>new_list</a:t>
            </a:r>
            <a:r>
              <a:rPr lang="en-IN" dirty="0"/>
              <a:t> = sorted(</a:t>
            </a:r>
            <a:r>
              <a:rPr lang="en-IN" dirty="0" err="1"/>
              <a:t>my_list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new_list</a:t>
            </a:r>
            <a:r>
              <a:rPr lang="en-IN" dirty="0">
                <a:solidFill>
                  <a:srgbClr val="00B050"/>
                </a:solidFill>
              </a:rPr>
              <a:t> becomes [1, 2, 3]</a:t>
            </a:r>
          </a:p>
        </p:txBody>
      </p:sp>
    </p:spTree>
    <p:extLst>
      <p:ext uri="{BB962C8B-B14F-4D97-AF65-F5344CB8AC3E}">
        <p14:creationId xmlns:p14="http://schemas.microsoft.com/office/powerpoint/2010/main" val="33663578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0A8837-59B2-E96B-B8A7-F147B59B6F8B}"/>
              </a:ext>
            </a:extLst>
          </p:cNvPr>
          <p:cNvSpPr txBox="1"/>
          <p:nvPr/>
        </p:nvSpPr>
        <p:spPr>
          <a:xfrm>
            <a:off x="504731" y="10013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5. </a:t>
            </a:r>
            <a:r>
              <a:rPr lang="en-IN" b="1" dirty="0">
                <a:solidFill>
                  <a:srgbClr val="FF0000"/>
                </a:solidFill>
              </a:rPr>
              <a:t>Copy Lists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6AC16-92D7-7A8A-5742-75BABEE6FD15}"/>
              </a:ext>
            </a:extLst>
          </p:cNvPr>
          <p:cNvSpPr txBox="1"/>
          <p:nvPr/>
        </p:nvSpPr>
        <p:spPr>
          <a:xfrm>
            <a:off x="504731" y="161427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new_list</a:t>
            </a:r>
            <a:r>
              <a:rPr lang="en-IN" dirty="0"/>
              <a:t> = </a:t>
            </a:r>
            <a:r>
              <a:rPr lang="en-IN" dirty="0" err="1"/>
              <a:t>my_list.copy</a:t>
            </a:r>
            <a:r>
              <a:rPr lang="en-IN" dirty="0"/>
              <a:t>()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new_list</a:t>
            </a:r>
            <a:r>
              <a:rPr lang="en-IN" dirty="0">
                <a:solidFill>
                  <a:srgbClr val="00B050"/>
                </a:solidFill>
              </a:rPr>
              <a:t> is [1, 2, 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EAB07-3ABB-4B32-52C0-0B5C74E66859}"/>
              </a:ext>
            </a:extLst>
          </p:cNvPr>
          <p:cNvSpPr txBox="1"/>
          <p:nvPr/>
        </p:nvSpPr>
        <p:spPr>
          <a:xfrm>
            <a:off x="504731" y="2338553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(1, 2, 3)</a:t>
            </a:r>
          </a:p>
          <a:p>
            <a:r>
              <a:rPr lang="en-IN" dirty="0" err="1"/>
              <a:t>my_list</a:t>
            </a:r>
            <a:r>
              <a:rPr lang="en-IN" dirty="0"/>
              <a:t> = list(</a:t>
            </a:r>
            <a:r>
              <a:rPr lang="en-IN" dirty="0" err="1"/>
              <a:t>my_tuple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1EAD9-005A-69C1-F26C-9FD8BA9725FA}"/>
              </a:ext>
            </a:extLst>
          </p:cNvPr>
          <p:cNvSpPr txBox="1"/>
          <p:nvPr/>
        </p:nvSpPr>
        <p:spPr>
          <a:xfrm>
            <a:off x="504731" y="368845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6. </a:t>
            </a:r>
            <a:r>
              <a:rPr lang="en-IN" b="1" dirty="0">
                <a:solidFill>
                  <a:srgbClr val="FF0000"/>
                </a:solidFill>
              </a:rPr>
              <a:t>Join Lists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C89B5-0450-A0AB-C97C-942DA1C21B2F}"/>
              </a:ext>
            </a:extLst>
          </p:cNvPr>
          <p:cNvSpPr txBox="1"/>
          <p:nvPr/>
        </p:nvSpPr>
        <p:spPr>
          <a:xfrm>
            <a:off x="504731" y="4299685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list1 = [1, 2]</a:t>
            </a:r>
          </a:p>
          <a:p>
            <a:r>
              <a:rPr lang="en-IN" dirty="0"/>
              <a:t>list2 = [3, 4]</a:t>
            </a:r>
          </a:p>
          <a:p>
            <a:r>
              <a:rPr lang="en-IN" dirty="0"/>
              <a:t>result = list1 + list2  </a:t>
            </a:r>
            <a:r>
              <a:rPr lang="en-IN" dirty="0">
                <a:solidFill>
                  <a:srgbClr val="00B050"/>
                </a:solidFill>
              </a:rPr>
              <a:t># result becomes [1, 2, 3, 4]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37544-377C-FACE-F22D-2DFABEB89DA7}"/>
              </a:ext>
            </a:extLst>
          </p:cNvPr>
          <p:cNvSpPr txBox="1"/>
          <p:nvPr/>
        </p:nvSpPr>
        <p:spPr>
          <a:xfrm>
            <a:off x="504731" y="546491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2]</a:t>
            </a:r>
          </a:p>
          <a:p>
            <a:r>
              <a:rPr lang="en-IN" dirty="0"/>
              <a:t>result = </a:t>
            </a:r>
            <a:r>
              <a:rPr lang="en-IN" dirty="0" err="1"/>
              <a:t>my_list</a:t>
            </a:r>
            <a:r>
              <a:rPr lang="en-IN" dirty="0"/>
              <a:t> * 3  </a:t>
            </a:r>
            <a:r>
              <a:rPr lang="en-IN" dirty="0">
                <a:solidFill>
                  <a:srgbClr val="00B050"/>
                </a:solidFill>
              </a:rPr>
              <a:t># result becomes [1, 2, 1, 2, 1, 2]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3BA0385-FAF0-709C-D189-1BB28574D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593" y="961448"/>
            <a:ext cx="616541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7. List Methods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append(x)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Adds an element to the end of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extend(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iterable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Extends the list by appending elements from 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Inserts an element at a given position.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remove(x)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the first occurrence of an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pop([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and returns the item at the given position in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clear()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all items from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index(x)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the index of the first occurrence of an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the number of occurrences of an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sort(key=None, reverse=False)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Sorts the list in place.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reverse()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Reverses the elements of the list in place.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copy()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a shallow copy of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766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D29B8-D323-D6AB-7FEF-CE75D7DB275C}"/>
              </a:ext>
            </a:extLst>
          </p:cNvPr>
          <p:cNvSpPr txBox="1"/>
          <p:nvPr/>
        </p:nvSpPr>
        <p:spPr>
          <a:xfrm>
            <a:off x="3150147" y="16841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Python Dictionary</a:t>
            </a:r>
          </a:p>
        </p:txBody>
      </p:sp>
      <p:pic>
        <p:nvPicPr>
          <p:cNvPr id="2050" name="Picture 2" descr="Python Dictionary">
            <a:extLst>
              <a:ext uri="{FF2B5EF4-FFF2-40B4-BE49-F238E27FC236}">
                <a16:creationId xmlns:a16="http://schemas.microsoft.com/office/drawing/2014/main" id="{4D2EBC8F-4A2B-E9F0-FCD9-83AAC6CE3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749" y="655445"/>
            <a:ext cx="2042304" cy="183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E301DD-0A86-F9BA-D2AB-DB766BDDFCDA}"/>
              </a:ext>
            </a:extLst>
          </p:cNvPr>
          <p:cNvSpPr txBox="1"/>
          <p:nvPr/>
        </p:nvSpPr>
        <p:spPr>
          <a:xfrm>
            <a:off x="418724" y="3176277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Creating a Dictionary with mixed keys</a:t>
            </a:r>
          </a:p>
          <a:p>
            <a:r>
              <a:rPr lang="en-IN" dirty="0" err="1"/>
              <a:t>myDict</a:t>
            </a:r>
            <a:r>
              <a:rPr lang="en-IN" dirty="0"/>
              <a:t> = {'Course': 'Python', 34: ['Beginner', 'Advanced']}</a:t>
            </a:r>
          </a:p>
          <a:p>
            <a:r>
              <a:rPr lang="en-IN" dirty="0"/>
              <a:t>print("Created Dictionary: ")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print(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myDict</a:t>
            </a:r>
            <a:r>
              <a:rPr lang="en-IN" b="0" dirty="0">
                <a:effectLst/>
                <a:latin typeface="Consolas" panose="020B0609020204030204" pitchFamily="49" charset="0"/>
              </a:rPr>
              <a:t>[34][0]) </a:t>
            </a:r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myDict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Accessing an element using its key</a:t>
            </a:r>
          </a:p>
          <a:p>
            <a:r>
              <a:rPr lang="en-IN" dirty="0"/>
              <a:t>print("Accessing an element using its key:")</a:t>
            </a:r>
          </a:p>
          <a:p>
            <a:r>
              <a:rPr lang="en-IN" dirty="0"/>
              <a:t>print(</a:t>
            </a:r>
            <a:r>
              <a:rPr lang="en-IN" dirty="0" err="1"/>
              <a:t>myDict</a:t>
            </a:r>
            <a:r>
              <a:rPr lang="en-IN" dirty="0"/>
              <a:t>['Course'])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E1232-2BBC-4C74-A8EF-4D3360600A27}"/>
              </a:ext>
            </a:extLst>
          </p:cNvPr>
          <p:cNvSpPr txBox="1"/>
          <p:nvPr/>
        </p:nvSpPr>
        <p:spPr>
          <a:xfrm>
            <a:off x="6516232" y="3176277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Accessing an element using the get() method</a:t>
            </a:r>
          </a:p>
          <a:p>
            <a:r>
              <a:rPr lang="en-IN" dirty="0"/>
              <a:t>print("Accessing an element using get():")</a:t>
            </a:r>
          </a:p>
          <a:p>
            <a:r>
              <a:rPr lang="en-IN" dirty="0"/>
              <a:t>print(</a:t>
            </a:r>
            <a:r>
              <a:rPr lang="en-IN" dirty="0" err="1"/>
              <a:t>myDict.get</a:t>
            </a:r>
            <a:r>
              <a:rPr lang="en-IN" dirty="0"/>
              <a:t>(34))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Creating a dictionary using dictionary comprehension</a:t>
            </a:r>
          </a:p>
          <a:p>
            <a:r>
              <a:rPr lang="en-IN" dirty="0" err="1"/>
              <a:t>squaredDict</a:t>
            </a:r>
            <a:r>
              <a:rPr lang="en-IN" dirty="0"/>
              <a:t> = {x: x**2 for x in range(1, 6)}</a:t>
            </a:r>
          </a:p>
          <a:p>
            <a:r>
              <a:rPr lang="en-IN" dirty="0"/>
              <a:t>print("Dictionary comprehension example:")</a:t>
            </a:r>
          </a:p>
          <a:p>
            <a:r>
              <a:rPr lang="en-IN" dirty="0"/>
              <a:t>print(</a:t>
            </a:r>
            <a:r>
              <a:rPr lang="en-IN" dirty="0" err="1"/>
              <a:t>squaredDict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2661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49361F-2067-49D8-5C1E-3AC2437A6D08}"/>
              </a:ext>
            </a:extLst>
          </p:cNvPr>
          <p:cNvSpPr txBox="1"/>
          <p:nvPr/>
        </p:nvSpPr>
        <p:spPr>
          <a:xfrm>
            <a:off x="401540" y="155921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Access</a:t>
            </a:r>
            <a:r>
              <a:rPr lang="en-IN" dirty="0">
                <a:solidFill>
                  <a:srgbClr val="FF0000"/>
                </a:solidFill>
              </a:rPr>
              <a:t>: 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my_dict</a:t>
            </a:r>
            <a:r>
              <a:rPr lang="en-IN" dirty="0"/>
              <a:t>['name'])  </a:t>
            </a:r>
            <a:r>
              <a:rPr lang="en-IN" dirty="0">
                <a:solidFill>
                  <a:srgbClr val="00B050"/>
                </a:solidFill>
              </a:rPr>
              <a:t># Output: Alice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2656A-FDB6-10FA-AC98-D12B491E8447}"/>
              </a:ext>
            </a:extLst>
          </p:cNvPr>
          <p:cNvSpPr txBox="1"/>
          <p:nvPr/>
        </p:nvSpPr>
        <p:spPr>
          <a:xfrm>
            <a:off x="401540" y="176700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Changes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83CA4-182C-387F-41C9-73CE9E8A43B7}"/>
              </a:ext>
            </a:extLst>
          </p:cNvPr>
          <p:cNvSpPr txBox="1"/>
          <p:nvPr/>
        </p:nvSpPr>
        <p:spPr>
          <a:xfrm>
            <a:off x="401540" y="21363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['age'] = 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7CFD2-5EE0-8D81-0257-0C724E3B617A}"/>
              </a:ext>
            </a:extLst>
          </p:cNvPr>
          <p:cNvSpPr txBox="1"/>
          <p:nvPr/>
        </p:nvSpPr>
        <p:spPr>
          <a:xfrm>
            <a:off x="401540" y="287500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Add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C9C536-A9B7-9798-D969-F3E998C8DF2E}"/>
              </a:ext>
            </a:extLst>
          </p:cNvPr>
          <p:cNvSpPr txBox="1"/>
          <p:nvPr/>
        </p:nvSpPr>
        <p:spPr>
          <a:xfrm>
            <a:off x="390177" y="324433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['city'] = 'New York'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8439E-09DE-4D19-DD5E-4E85FD43BEFE}"/>
              </a:ext>
            </a:extLst>
          </p:cNvPr>
          <p:cNvSpPr txBox="1"/>
          <p:nvPr/>
        </p:nvSpPr>
        <p:spPr>
          <a:xfrm>
            <a:off x="401540" y="389066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Remove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AD98F0-8842-F2A5-A3D4-4D86D4E3C7BA}"/>
              </a:ext>
            </a:extLst>
          </p:cNvPr>
          <p:cNvSpPr txBox="1"/>
          <p:nvPr/>
        </p:nvSpPr>
        <p:spPr>
          <a:xfrm>
            <a:off x="390177" y="425999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del </a:t>
            </a:r>
            <a:r>
              <a:rPr lang="en-IN" dirty="0" err="1"/>
              <a:t>my_dict</a:t>
            </a:r>
            <a:r>
              <a:rPr lang="en-IN" dirty="0"/>
              <a:t>['city']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E5AB0F-92F0-6F88-17F1-4C5270D531C2}"/>
              </a:ext>
            </a:extLst>
          </p:cNvPr>
          <p:cNvSpPr txBox="1"/>
          <p:nvPr/>
        </p:nvSpPr>
        <p:spPr>
          <a:xfrm>
            <a:off x="7512113" y="67125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Loop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D1A108-5646-D02C-17F6-3DED99CFA836}"/>
              </a:ext>
            </a:extLst>
          </p:cNvPr>
          <p:cNvSpPr txBox="1"/>
          <p:nvPr/>
        </p:nvSpPr>
        <p:spPr>
          <a:xfrm>
            <a:off x="7512113" y="1120675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key in </a:t>
            </a:r>
            <a:r>
              <a:rPr lang="en-IN" dirty="0" err="1"/>
              <a:t>my_dict</a:t>
            </a:r>
            <a:r>
              <a:rPr lang="en-IN" dirty="0"/>
              <a:t>:</a:t>
            </a:r>
          </a:p>
          <a:p>
            <a:r>
              <a:rPr lang="en-IN" dirty="0"/>
              <a:t>    print(key, </a:t>
            </a:r>
            <a:r>
              <a:rPr lang="en-IN" dirty="0" err="1"/>
              <a:t>my_dict</a:t>
            </a:r>
            <a:r>
              <a:rPr lang="en-IN" dirty="0"/>
              <a:t>[key])</a:t>
            </a:r>
          </a:p>
          <a:p>
            <a:endParaRPr lang="en-IN" dirty="0"/>
          </a:p>
          <a:p>
            <a:r>
              <a:rPr lang="en-IN" dirty="0"/>
              <a:t>for key, value in </a:t>
            </a:r>
            <a:r>
              <a:rPr lang="en-IN" dirty="0" err="1"/>
              <a:t>my_dict.items</a:t>
            </a:r>
            <a:r>
              <a:rPr lang="en-IN" dirty="0"/>
              <a:t>():</a:t>
            </a:r>
          </a:p>
          <a:p>
            <a:r>
              <a:rPr lang="en-IN" dirty="0"/>
              <a:t>    print(key, value)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03646E-DD59-7979-4263-B2478A82E984}"/>
              </a:ext>
            </a:extLst>
          </p:cNvPr>
          <p:cNvSpPr txBox="1"/>
          <p:nvPr/>
        </p:nvSpPr>
        <p:spPr>
          <a:xfrm>
            <a:off x="7512113" y="2756045"/>
            <a:ext cx="6803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Copy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735C68-82E9-7543-D221-6AD99C00DF18}"/>
              </a:ext>
            </a:extLst>
          </p:cNvPr>
          <p:cNvSpPr txBox="1"/>
          <p:nvPr/>
        </p:nvSpPr>
        <p:spPr>
          <a:xfrm>
            <a:off x="7512113" y="3105834"/>
            <a:ext cx="715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new_dict</a:t>
            </a:r>
            <a:r>
              <a:rPr lang="en-IN" dirty="0"/>
              <a:t> = </a:t>
            </a:r>
            <a:r>
              <a:rPr lang="en-IN" dirty="0" err="1"/>
              <a:t>my_dict.copy</a:t>
            </a:r>
            <a:r>
              <a:rPr lang="en-IN" dirty="0"/>
              <a:t>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2EA4FE-7608-49E7-3F9B-1A83CCD21526}"/>
              </a:ext>
            </a:extLst>
          </p:cNvPr>
          <p:cNvSpPr txBox="1"/>
          <p:nvPr/>
        </p:nvSpPr>
        <p:spPr>
          <a:xfrm>
            <a:off x="7506478" y="4101956"/>
            <a:ext cx="73338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nested_dict</a:t>
            </a:r>
            <a:r>
              <a:rPr lang="en-IN" dirty="0"/>
              <a:t> = {</a:t>
            </a:r>
          </a:p>
          <a:p>
            <a:r>
              <a:rPr lang="en-IN" dirty="0"/>
              <a:t>    'person1': {'name': 'Alice', 'age': 30},</a:t>
            </a:r>
          </a:p>
          <a:p>
            <a:r>
              <a:rPr lang="en-IN" dirty="0"/>
              <a:t>    'person2': {'name': 'Bob', 'age': 25}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print(</a:t>
            </a:r>
            <a:r>
              <a:rPr lang="en-IN" dirty="0" err="1"/>
              <a:t>nested_dict</a:t>
            </a:r>
            <a:r>
              <a:rPr lang="en-IN" dirty="0"/>
              <a:t>['person1']['name'])  </a:t>
            </a:r>
          </a:p>
          <a:p>
            <a:r>
              <a:rPr lang="en-IN" dirty="0">
                <a:solidFill>
                  <a:srgbClr val="00B050"/>
                </a:solidFill>
              </a:rPr>
              <a:t># Output: Alice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E4EA99-45C7-BF4A-AC58-2ED9547DE6CB}"/>
              </a:ext>
            </a:extLst>
          </p:cNvPr>
          <p:cNvSpPr txBox="1"/>
          <p:nvPr/>
        </p:nvSpPr>
        <p:spPr>
          <a:xfrm>
            <a:off x="7517841" y="3732624"/>
            <a:ext cx="7422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Nested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64F810-5E6A-72D5-FFA2-48AA956B2D64}"/>
              </a:ext>
            </a:extLst>
          </p:cNvPr>
          <p:cNvSpPr txBox="1"/>
          <p:nvPr/>
        </p:nvSpPr>
        <p:spPr>
          <a:xfrm>
            <a:off x="2361423" y="150054"/>
            <a:ext cx="7469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 err="1">
                <a:solidFill>
                  <a:srgbClr val="0070C0"/>
                </a:solidFill>
              </a:rPr>
              <a:t>my_dict</a:t>
            </a:r>
            <a:r>
              <a:rPr lang="en-IN" dirty="0">
                <a:solidFill>
                  <a:srgbClr val="0070C0"/>
                </a:solidFill>
              </a:rPr>
              <a:t> = {'name': 'Alice', 'age': 30}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38087-FA78-C648-C371-7CBFCB2060C8}"/>
              </a:ext>
            </a:extLst>
          </p:cNvPr>
          <p:cNvSpPr txBox="1"/>
          <p:nvPr/>
        </p:nvSpPr>
        <p:spPr>
          <a:xfrm>
            <a:off x="390177" y="4906328"/>
            <a:ext cx="227151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Merge:</a:t>
            </a:r>
          </a:p>
          <a:p>
            <a:r>
              <a:rPr lang="en-IN" dirty="0"/>
              <a:t>dict1 = {'a': 1, 'b': 2}</a:t>
            </a:r>
          </a:p>
          <a:p>
            <a:r>
              <a:rPr lang="en-IN" dirty="0"/>
              <a:t>dict2 = {'c': 3, 'd': 4}</a:t>
            </a:r>
          </a:p>
          <a:p>
            <a:endParaRPr lang="en-IN" dirty="0"/>
          </a:p>
          <a:p>
            <a:r>
              <a:rPr lang="en-IN" dirty="0"/>
              <a:t>merged = dict1 | dict2</a:t>
            </a:r>
          </a:p>
          <a:p>
            <a:r>
              <a:rPr lang="en-IN" dirty="0"/>
              <a:t>print(merged)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1361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C91D4-9A63-2E3A-8562-C91EF91F3A61}"/>
              </a:ext>
            </a:extLst>
          </p:cNvPr>
          <p:cNvSpPr txBox="1"/>
          <p:nvPr/>
        </p:nvSpPr>
        <p:spPr>
          <a:xfrm>
            <a:off x="3047246" y="24990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Dictionary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CA40E-0F12-4083-AF2A-8B6FAD33087F}"/>
              </a:ext>
            </a:extLst>
          </p:cNvPr>
          <p:cNvSpPr txBox="1"/>
          <p:nvPr/>
        </p:nvSpPr>
        <p:spPr>
          <a:xfrm>
            <a:off x="5294015" y="1055254"/>
            <a:ext cx="60975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FF0000"/>
                </a:solidFill>
              </a:rPr>
              <a:t># Create a dictionary</a:t>
            </a:r>
          </a:p>
          <a:p>
            <a:r>
              <a:rPr lang="en-IN" sz="1200" dirty="0" err="1"/>
              <a:t>my_dict</a:t>
            </a:r>
            <a:r>
              <a:rPr lang="en-IN" sz="1200" dirty="0"/>
              <a:t> = {'name': 'Alice', 'age': 30}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0000"/>
                </a:solidFill>
              </a:rPr>
              <a:t># Access a value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my_dict</a:t>
            </a:r>
            <a:r>
              <a:rPr lang="en-IN" sz="1200" dirty="0"/>
              <a:t>['name'])  </a:t>
            </a:r>
            <a:r>
              <a:rPr lang="en-IN" sz="1200" dirty="0">
                <a:solidFill>
                  <a:srgbClr val="00B050"/>
                </a:solidFill>
              </a:rPr>
              <a:t># Output: Alice</a:t>
            </a:r>
          </a:p>
          <a:p>
            <a:endParaRPr lang="en-IN" sz="1200" dirty="0">
              <a:solidFill>
                <a:srgbClr val="FF0000"/>
              </a:solidFill>
            </a:endParaRPr>
          </a:p>
          <a:p>
            <a:r>
              <a:rPr lang="en-IN" sz="1200" dirty="0">
                <a:solidFill>
                  <a:srgbClr val="FF0000"/>
                </a:solidFill>
              </a:rPr>
              <a:t># Change a value</a:t>
            </a:r>
          </a:p>
          <a:p>
            <a:r>
              <a:rPr lang="en-IN" sz="1200" dirty="0" err="1"/>
              <a:t>my_dict</a:t>
            </a:r>
            <a:r>
              <a:rPr lang="en-IN" sz="1200" dirty="0"/>
              <a:t>['age'] = 31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0000"/>
                </a:solidFill>
              </a:rPr>
              <a:t># Add a new key-value pair</a:t>
            </a:r>
          </a:p>
          <a:p>
            <a:r>
              <a:rPr lang="en-IN" sz="1200" dirty="0" err="1"/>
              <a:t>my_dict</a:t>
            </a:r>
            <a:r>
              <a:rPr lang="en-IN" sz="1200" dirty="0"/>
              <a:t>['city'] = 'New York'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0000"/>
                </a:solidFill>
              </a:rPr>
              <a:t># Remove a key-value pair</a:t>
            </a:r>
          </a:p>
          <a:p>
            <a:r>
              <a:rPr lang="en-IN" sz="1200" dirty="0"/>
              <a:t>del </a:t>
            </a:r>
            <a:r>
              <a:rPr lang="en-IN" sz="1200" dirty="0" err="1"/>
              <a:t>my_dict</a:t>
            </a:r>
            <a:r>
              <a:rPr lang="en-IN" sz="1200" dirty="0"/>
              <a:t>['city']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0000"/>
                </a:solidFill>
              </a:rPr>
              <a:t># Loop through the dictionary</a:t>
            </a:r>
          </a:p>
          <a:p>
            <a:r>
              <a:rPr lang="en-IN" sz="1200" dirty="0"/>
              <a:t>for key, value in </a:t>
            </a:r>
            <a:r>
              <a:rPr lang="en-IN" sz="1200" dirty="0" err="1"/>
              <a:t>my_dict.items</a:t>
            </a:r>
            <a:r>
              <a:rPr lang="en-IN" sz="1200" dirty="0"/>
              <a:t>():</a:t>
            </a:r>
          </a:p>
          <a:p>
            <a:r>
              <a:rPr lang="en-IN" sz="1200" dirty="0"/>
              <a:t>    print(f'{key}: {value}')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0000"/>
                </a:solidFill>
              </a:rPr>
              <a:t># Copy the dictionary</a:t>
            </a:r>
          </a:p>
          <a:p>
            <a:r>
              <a:rPr lang="en-IN" sz="1200" dirty="0" err="1"/>
              <a:t>new_dict</a:t>
            </a:r>
            <a:r>
              <a:rPr lang="en-IN" sz="1200" dirty="0"/>
              <a:t> = </a:t>
            </a:r>
            <a:r>
              <a:rPr lang="en-IN" sz="1200" dirty="0" err="1"/>
              <a:t>my_dict.copy</a:t>
            </a:r>
            <a:r>
              <a:rPr lang="en-IN" sz="1200" dirty="0"/>
              <a:t>()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FF0000"/>
                </a:solidFill>
              </a:rPr>
              <a:t># Create a nested dictionary</a:t>
            </a:r>
          </a:p>
          <a:p>
            <a:r>
              <a:rPr lang="en-IN" sz="1200" dirty="0" err="1"/>
              <a:t>nested_dict</a:t>
            </a:r>
            <a:r>
              <a:rPr lang="en-IN" sz="1200" dirty="0"/>
              <a:t> = {</a:t>
            </a:r>
          </a:p>
          <a:p>
            <a:r>
              <a:rPr lang="en-IN" sz="1200" dirty="0"/>
              <a:t>    'person1': {'name': 'Alice', 'age': 30},</a:t>
            </a:r>
          </a:p>
          <a:p>
            <a:r>
              <a:rPr lang="en-IN" sz="1200" dirty="0"/>
              <a:t>    'person2': {'name': 'Bob', 'age': 25}</a:t>
            </a:r>
          </a:p>
          <a:p>
            <a:r>
              <a:rPr lang="en-IN" sz="1200" dirty="0"/>
              <a:t>}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nested_dict</a:t>
            </a:r>
            <a:r>
              <a:rPr lang="en-IN" sz="1200" dirty="0"/>
              <a:t>['person1']['name'])  </a:t>
            </a:r>
            <a:r>
              <a:rPr lang="en-IN" sz="1200" dirty="0">
                <a:solidFill>
                  <a:srgbClr val="00B050"/>
                </a:solidFill>
              </a:rPr>
              <a:t># Output: Alice</a:t>
            </a:r>
          </a:p>
        </p:txBody>
      </p:sp>
    </p:spTree>
    <p:extLst>
      <p:ext uri="{BB962C8B-B14F-4D97-AF65-F5344CB8AC3E}">
        <p14:creationId xmlns:p14="http://schemas.microsoft.com/office/powerpoint/2010/main" val="2770745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268B40-252E-CEAD-FD52-2207194C4006}"/>
              </a:ext>
            </a:extLst>
          </p:cNvPr>
          <p:cNvSpPr txBox="1"/>
          <p:nvPr/>
        </p:nvSpPr>
        <p:spPr>
          <a:xfrm>
            <a:off x="3047246" y="39475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Tuples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4F8A5-3BF0-02AA-A862-9A4B1B79B140}"/>
              </a:ext>
            </a:extLst>
          </p:cNvPr>
          <p:cNvSpPr txBox="1"/>
          <p:nvPr/>
        </p:nvSpPr>
        <p:spPr>
          <a:xfrm>
            <a:off x="894030" y="2546193"/>
            <a:ext cx="60975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Defining a Tuple with string elements</a:t>
            </a:r>
          </a:p>
          <a:p>
            <a:r>
              <a:rPr lang="en-IN" dirty="0" err="1"/>
              <a:t>myTuple</a:t>
            </a:r>
            <a:r>
              <a:rPr lang="en-IN" dirty="0"/>
              <a:t> = ('Welcome', 'to', '</a:t>
            </a:r>
            <a:r>
              <a:rPr lang="en-IN" dirty="0" err="1"/>
              <a:t>ScholarHat</a:t>
            </a:r>
            <a:r>
              <a:rPr lang="en-IN" dirty="0"/>
              <a:t>')</a:t>
            </a:r>
          </a:p>
          <a:p>
            <a:r>
              <a:rPr lang="en-IN" dirty="0"/>
              <a:t>print("\</a:t>
            </a:r>
            <a:r>
              <a:rPr lang="en-IN" dirty="0" err="1"/>
              <a:t>nTuple</a:t>
            </a:r>
            <a:r>
              <a:rPr lang="en-IN" dirty="0"/>
              <a:t> with strings:")</a:t>
            </a:r>
          </a:p>
          <a:p>
            <a:r>
              <a:rPr lang="en-IN" dirty="0"/>
              <a:t>print(</a:t>
            </a:r>
            <a:r>
              <a:rPr lang="en-IN" dirty="0" err="1"/>
              <a:t>myTuple</a:t>
            </a:r>
            <a:r>
              <a:rPr lang="en-IN" dirty="0"/>
              <a:t>)</a:t>
            </a:r>
          </a:p>
          <a:p>
            <a:r>
              <a:rPr lang="en-IN" dirty="0"/>
              <a:t>     </a:t>
            </a:r>
          </a:p>
          <a:p>
            <a:r>
              <a:rPr lang="en-IN" dirty="0">
                <a:solidFill>
                  <a:srgbClr val="FF0000"/>
                </a:solidFill>
              </a:rPr>
              <a:t># Converting a list to a Tuple</a:t>
            </a:r>
          </a:p>
          <a:p>
            <a:r>
              <a:rPr lang="en-IN" dirty="0" err="1"/>
              <a:t>myList</a:t>
            </a:r>
            <a:r>
              <a:rPr lang="en-IN" dirty="0"/>
              <a:t> = [100, 200, 300, 400]</a:t>
            </a:r>
          </a:p>
          <a:p>
            <a:r>
              <a:rPr lang="en-IN" dirty="0"/>
              <a:t>print("\</a:t>
            </a:r>
            <a:r>
              <a:rPr lang="en-IN" dirty="0" err="1"/>
              <a:t>nTuple</a:t>
            </a:r>
            <a:r>
              <a:rPr lang="en-IN" dirty="0"/>
              <a:t> created from a list:")</a:t>
            </a:r>
          </a:p>
          <a:p>
            <a:r>
              <a:rPr lang="en-IN" dirty="0" err="1"/>
              <a:t>myTuple</a:t>
            </a:r>
            <a:r>
              <a:rPr lang="en-IN" dirty="0"/>
              <a:t> = tuple(</a:t>
            </a:r>
            <a:r>
              <a:rPr lang="en-IN" dirty="0" err="1"/>
              <a:t>myList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7DEDE-C4B9-108E-BC54-7C7B1639A8AC}"/>
              </a:ext>
            </a:extLst>
          </p:cNvPr>
          <p:cNvSpPr txBox="1"/>
          <p:nvPr/>
        </p:nvSpPr>
        <p:spPr>
          <a:xfrm>
            <a:off x="6094492" y="2546193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Accessing elements through indexing</a:t>
            </a:r>
          </a:p>
          <a:p>
            <a:r>
              <a:rPr lang="en-IN" dirty="0"/>
              <a:t>print("Accessing the first element of the tuple:")</a:t>
            </a:r>
          </a:p>
          <a:p>
            <a:r>
              <a:rPr lang="en-IN" dirty="0"/>
              <a:t>print(</a:t>
            </a:r>
            <a:r>
              <a:rPr lang="en-IN" dirty="0" err="1"/>
              <a:t>myTuple</a:t>
            </a:r>
            <a:r>
              <a:rPr lang="en-IN" dirty="0"/>
              <a:t>[0])</a:t>
            </a:r>
          </a:p>
          <a:p>
            <a:r>
              <a:rPr lang="en-IN" dirty="0"/>
              <a:t> </a:t>
            </a:r>
          </a:p>
          <a:p>
            <a:r>
              <a:rPr lang="en-IN" dirty="0">
                <a:solidFill>
                  <a:srgbClr val="FF0000"/>
                </a:solidFill>
              </a:rPr>
              <a:t># Using negative indexing to access elements</a:t>
            </a:r>
          </a:p>
          <a:p>
            <a:r>
              <a:rPr lang="en-IN" dirty="0"/>
              <a:t>print("\</a:t>
            </a:r>
            <a:r>
              <a:rPr lang="en-IN" dirty="0" err="1"/>
              <a:t>nAccessing</a:t>
            </a:r>
            <a:r>
              <a:rPr lang="en-IN" dirty="0"/>
              <a:t> the last element of the tuple using negative indexing:")</a:t>
            </a:r>
          </a:p>
          <a:p>
            <a:r>
              <a:rPr lang="en-IN" dirty="0"/>
              <a:t>print(</a:t>
            </a:r>
            <a:r>
              <a:rPr lang="en-IN" dirty="0" err="1"/>
              <a:t>myTuple</a:t>
            </a:r>
            <a:r>
              <a:rPr lang="en-IN" dirty="0"/>
              <a:t>[-1])</a:t>
            </a:r>
          </a:p>
        </p:txBody>
      </p:sp>
    </p:spTree>
    <p:extLst>
      <p:ext uri="{BB962C8B-B14F-4D97-AF65-F5344CB8AC3E}">
        <p14:creationId xmlns:p14="http://schemas.microsoft.com/office/powerpoint/2010/main" val="3121502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3AB58-DF91-C324-A545-CEB5F0CCA301}"/>
              </a:ext>
            </a:extLst>
          </p:cNvPr>
          <p:cNvSpPr txBox="1"/>
          <p:nvPr/>
        </p:nvSpPr>
        <p:spPr>
          <a:xfrm>
            <a:off x="233127" y="31327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1. Creating Tuples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D75AD-AC6F-62F2-CD5B-6DCF09B90798}"/>
              </a:ext>
            </a:extLst>
          </p:cNvPr>
          <p:cNvSpPr txBox="1"/>
          <p:nvPr/>
        </p:nvSpPr>
        <p:spPr>
          <a:xfrm>
            <a:off x="233127" y="682606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Creating a tuple</a:t>
            </a:r>
          </a:p>
          <a:p>
            <a:r>
              <a:rPr lang="en-IN" dirty="0" err="1"/>
              <a:t>my_tuple</a:t>
            </a:r>
            <a:r>
              <a:rPr lang="en-IN" dirty="0"/>
              <a:t> = (1, 2, 3, 'a', 'b', 'c')</a:t>
            </a:r>
          </a:p>
          <a:p>
            <a:r>
              <a:rPr lang="en-IN" dirty="0" err="1"/>
              <a:t>single_element_tuple</a:t>
            </a:r>
            <a:r>
              <a:rPr lang="en-IN" dirty="0"/>
              <a:t> = (1,)  </a:t>
            </a:r>
            <a:r>
              <a:rPr lang="en-IN" dirty="0">
                <a:solidFill>
                  <a:srgbClr val="00B050"/>
                </a:solidFill>
              </a:rPr>
              <a:t># Note the comma</a:t>
            </a:r>
          </a:p>
          <a:p>
            <a:r>
              <a:rPr lang="en-IN" dirty="0" err="1"/>
              <a:t>empty_tuple</a:t>
            </a:r>
            <a:r>
              <a:rPr lang="en-IN" dirty="0"/>
              <a:t> = 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12297-971E-EC5F-3276-4A94A5DA12DF}"/>
              </a:ext>
            </a:extLst>
          </p:cNvPr>
          <p:cNvSpPr txBox="1"/>
          <p:nvPr/>
        </p:nvSpPr>
        <p:spPr>
          <a:xfrm>
            <a:off x="233127" y="238651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2. Accessing Tuple Elements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8FDC2-F3A0-059F-861C-B6287D044F0B}"/>
              </a:ext>
            </a:extLst>
          </p:cNvPr>
          <p:cNvSpPr txBox="1"/>
          <p:nvPr/>
        </p:nvSpPr>
        <p:spPr>
          <a:xfrm>
            <a:off x="233127" y="2755850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(1, 2, 3, 'a', 'b', 'c')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Accessing elements</a:t>
            </a:r>
          </a:p>
          <a:p>
            <a:r>
              <a:rPr lang="en-IN" dirty="0"/>
              <a:t>print(</a:t>
            </a:r>
            <a:r>
              <a:rPr lang="en-IN" dirty="0" err="1"/>
              <a:t>my_tuple</a:t>
            </a:r>
            <a:r>
              <a:rPr lang="en-IN" dirty="0"/>
              <a:t>[0</a:t>
            </a:r>
            <a:r>
              <a:rPr lang="en-IN" dirty="0">
                <a:solidFill>
                  <a:srgbClr val="00B050"/>
                </a:solidFill>
              </a:rPr>
              <a:t>])  # Output: 1</a:t>
            </a:r>
          </a:p>
          <a:p>
            <a:r>
              <a:rPr lang="en-IN" dirty="0"/>
              <a:t>print(</a:t>
            </a:r>
            <a:r>
              <a:rPr lang="en-IN" dirty="0" err="1"/>
              <a:t>my_tuple</a:t>
            </a:r>
            <a:r>
              <a:rPr lang="en-IN" dirty="0"/>
              <a:t>[3</a:t>
            </a:r>
            <a:r>
              <a:rPr lang="en-IN" dirty="0">
                <a:solidFill>
                  <a:srgbClr val="00B050"/>
                </a:solidFill>
              </a:rPr>
              <a:t>])  # Output: 'a'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Negative indexing</a:t>
            </a:r>
          </a:p>
          <a:p>
            <a:r>
              <a:rPr lang="en-IN" dirty="0"/>
              <a:t>print(</a:t>
            </a:r>
            <a:r>
              <a:rPr lang="en-IN" dirty="0" err="1"/>
              <a:t>my_tuple</a:t>
            </a:r>
            <a:r>
              <a:rPr lang="en-IN" dirty="0"/>
              <a:t>[-1])  </a:t>
            </a:r>
            <a:r>
              <a:rPr lang="en-IN" dirty="0">
                <a:solidFill>
                  <a:srgbClr val="00B050"/>
                </a:solidFill>
              </a:rPr>
              <a:t># Output: 'c'</a:t>
            </a:r>
          </a:p>
          <a:p>
            <a:r>
              <a:rPr lang="en-IN" dirty="0"/>
              <a:t>print(</a:t>
            </a:r>
            <a:r>
              <a:rPr lang="en-IN" dirty="0" err="1"/>
              <a:t>my_tuple</a:t>
            </a:r>
            <a:r>
              <a:rPr lang="en-IN" dirty="0"/>
              <a:t>[-2])  </a:t>
            </a:r>
            <a:r>
              <a:rPr lang="en-IN" dirty="0">
                <a:solidFill>
                  <a:srgbClr val="00B050"/>
                </a:solidFill>
              </a:rPr>
              <a:t># Output: 'b'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9E43-0E09-0D2D-B8B0-51C812631E8C}"/>
              </a:ext>
            </a:extLst>
          </p:cNvPr>
          <p:cNvSpPr txBox="1"/>
          <p:nvPr/>
        </p:nvSpPr>
        <p:spPr>
          <a:xfrm>
            <a:off x="6534339" y="31327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 Updating Tuples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AFBFEA-8AF9-89D5-6ECB-D695E11F055A}"/>
              </a:ext>
            </a:extLst>
          </p:cNvPr>
          <p:cNvSpPr txBox="1"/>
          <p:nvPr/>
        </p:nvSpPr>
        <p:spPr>
          <a:xfrm>
            <a:off x="6534339" y="771529"/>
            <a:ext cx="63147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Creating a new tuple by concatenation</a:t>
            </a:r>
          </a:p>
          <a:p>
            <a:r>
              <a:rPr lang="en-IN" dirty="0" err="1"/>
              <a:t>my_tuple</a:t>
            </a:r>
            <a:r>
              <a:rPr lang="en-IN" dirty="0"/>
              <a:t> = (1, 2, 3)</a:t>
            </a:r>
          </a:p>
          <a:p>
            <a:r>
              <a:rPr lang="en-IN" dirty="0" err="1"/>
              <a:t>new_tuple</a:t>
            </a:r>
            <a:r>
              <a:rPr lang="en-IN" dirty="0"/>
              <a:t> = </a:t>
            </a:r>
            <a:r>
              <a:rPr lang="en-IN" dirty="0" err="1"/>
              <a:t>my_tuple</a:t>
            </a:r>
            <a:r>
              <a:rPr lang="en-IN" dirty="0"/>
              <a:t> + (4, 5)</a:t>
            </a:r>
          </a:p>
          <a:p>
            <a:r>
              <a:rPr lang="en-IN" dirty="0"/>
              <a:t>print(</a:t>
            </a:r>
            <a:r>
              <a:rPr lang="en-IN" dirty="0" err="1"/>
              <a:t>new_tuple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(1, 2, 3, 4, 5)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Creating a new tuple by slicing and concatenation</a:t>
            </a:r>
          </a:p>
          <a:p>
            <a:r>
              <a:rPr lang="en-IN" dirty="0" err="1"/>
              <a:t>my_tuple</a:t>
            </a:r>
            <a:r>
              <a:rPr lang="en-IN" dirty="0"/>
              <a:t> = (1, 2, 3, 4, 5)</a:t>
            </a:r>
          </a:p>
          <a:p>
            <a:r>
              <a:rPr lang="en-IN" dirty="0" err="1"/>
              <a:t>new_tuple</a:t>
            </a:r>
            <a:r>
              <a:rPr lang="en-IN" dirty="0"/>
              <a:t> = </a:t>
            </a:r>
            <a:r>
              <a:rPr lang="en-IN" dirty="0" err="1"/>
              <a:t>my_tuple</a:t>
            </a:r>
            <a:r>
              <a:rPr lang="en-IN" dirty="0"/>
              <a:t>[:2] + (10, 20) + </a:t>
            </a:r>
            <a:r>
              <a:rPr lang="en-IN" dirty="0" err="1"/>
              <a:t>my_tuple</a:t>
            </a:r>
            <a:r>
              <a:rPr lang="en-IN" dirty="0"/>
              <a:t>[3:]</a:t>
            </a:r>
          </a:p>
          <a:p>
            <a:r>
              <a:rPr lang="en-IN" dirty="0"/>
              <a:t>print(</a:t>
            </a:r>
            <a:r>
              <a:rPr lang="en-IN" dirty="0" err="1"/>
              <a:t>new_tuple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(1, 2, 10, 20, 4, 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25DB5-E421-B8E2-90D8-B37E77ECF23B}"/>
              </a:ext>
            </a:extLst>
          </p:cNvPr>
          <p:cNvSpPr txBox="1"/>
          <p:nvPr/>
        </p:nvSpPr>
        <p:spPr>
          <a:xfrm>
            <a:off x="6534339" y="3474174"/>
            <a:ext cx="642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4. Unpacking Tuples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2ADCD-2A3D-61F6-E064-A91DD0A25D1E}"/>
              </a:ext>
            </a:extLst>
          </p:cNvPr>
          <p:cNvSpPr txBox="1"/>
          <p:nvPr/>
        </p:nvSpPr>
        <p:spPr>
          <a:xfrm>
            <a:off x="6534339" y="3843506"/>
            <a:ext cx="64777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Unpacking</a:t>
            </a:r>
          </a:p>
          <a:p>
            <a:r>
              <a:rPr lang="en-IN" dirty="0"/>
              <a:t>a, b, c, d, e, f = </a:t>
            </a:r>
            <a:r>
              <a:rPr lang="en-IN" dirty="0" err="1"/>
              <a:t>my_tuple</a:t>
            </a:r>
            <a:endParaRPr lang="en-IN" dirty="0"/>
          </a:p>
          <a:p>
            <a:r>
              <a:rPr lang="en-IN" dirty="0"/>
              <a:t>print(a)  </a:t>
            </a:r>
            <a:r>
              <a:rPr lang="en-IN" dirty="0">
                <a:solidFill>
                  <a:srgbClr val="00B050"/>
                </a:solidFill>
              </a:rPr>
              <a:t># Output: 1</a:t>
            </a:r>
          </a:p>
          <a:p>
            <a:r>
              <a:rPr lang="en-IN" dirty="0"/>
              <a:t>print(f)  </a:t>
            </a:r>
            <a:r>
              <a:rPr lang="en-IN" dirty="0">
                <a:solidFill>
                  <a:srgbClr val="00B050"/>
                </a:solidFill>
              </a:rPr>
              <a:t># Output: 'c'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Unpacking with less/more variables</a:t>
            </a:r>
          </a:p>
          <a:p>
            <a:r>
              <a:rPr lang="en-IN" dirty="0"/>
              <a:t>first, *middle, last = (1, 2, 3, 4, 5)</a:t>
            </a:r>
          </a:p>
          <a:p>
            <a:r>
              <a:rPr lang="en-IN" dirty="0"/>
              <a:t>print(first)  </a:t>
            </a:r>
            <a:r>
              <a:rPr lang="en-IN" dirty="0">
                <a:solidFill>
                  <a:srgbClr val="00B050"/>
                </a:solidFill>
              </a:rPr>
              <a:t># Output: 1</a:t>
            </a:r>
          </a:p>
          <a:p>
            <a:r>
              <a:rPr lang="en-IN" dirty="0"/>
              <a:t>print(middle)  </a:t>
            </a:r>
            <a:r>
              <a:rPr lang="en-IN" dirty="0">
                <a:solidFill>
                  <a:srgbClr val="00B050"/>
                </a:solidFill>
              </a:rPr>
              <a:t># Output: [2, 3, 4]</a:t>
            </a:r>
          </a:p>
          <a:p>
            <a:r>
              <a:rPr lang="en-IN" dirty="0"/>
              <a:t>print(last)  </a:t>
            </a:r>
            <a:r>
              <a:rPr lang="en-IN" dirty="0">
                <a:solidFill>
                  <a:srgbClr val="00B050"/>
                </a:solidFill>
              </a:rPr>
              <a:t># Output: 5</a:t>
            </a:r>
          </a:p>
        </p:txBody>
      </p:sp>
    </p:spTree>
    <p:extLst>
      <p:ext uri="{BB962C8B-B14F-4D97-AF65-F5344CB8AC3E}">
        <p14:creationId xmlns:p14="http://schemas.microsoft.com/office/powerpoint/2010/main" val="930931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1BC23-E9A5-DFA2-9982-E1AA07475B86}"/>
              </a:ext>
            </a:extLst>
          </p:cNvPr>
          <p:cNvSpPr txBox="1"/>
          <p:nvPr/>
        </p:nvSpPr>
        <p:spPr>
          <a:xfrm>
            <a:off x="196914" y="32232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5. Looping Through Tuples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C8481-0921-1F3C-943C-1BBE0D1AA324}"/>
              </a:ext>
            </a:extLst>
          </p:cNvPr>
          <p:cNvSpPr txBox="1"/>
          <p:nvPr/>
        </p:nvSpPr>
        <p:spPr>
          <a:xfrm>
            <a:off x="196914" y="1008654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(1, 2, 3, 'a', 'b', 'c')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Looping through tuple</a:t>
            </a:r>
          </a:p>
          <a:p>
            <a:r>
              <a:rPr lang="en-IN" dirty="0"/>
              <a:t>for item in </a:t>
            </a:r>
            <a:r>
              <a:rPr lang="en-IN" dirty="0" err="1"/>
              <a:t>my_tuple</a:t>
            </a:r>
            <a:r>
              <a:rPr lang="en-IN" dirty="0"/>
              <a:t>:</a:t>
            </a:r>
          </a:p>
          <a:p>
            <a:r>
              <a:rPr lang="en-IN" dirty="0"/>
              <a:t>    print(item)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C1047-1542-2597-E919-1CD0F1E4D0BD}"/>
              </a:ext>
            </a:extLst>
          </p:cNvPr>
          <p:cNvSpPr txBox="1"/>
          <p:nvPr/>
        </p:nvSpPr>
        <p:spPr>
          <a:xfrm>
            <a:off x="196914" y="280297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6. Joining Tuples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67DB3-C795-0485-3D7E-81CF6FD0C843}"/>
              </a:ext>
            </a:extLst>
          </p:cNvPr>
          <p:cNvSpPr txBox="1"/>
          <p:nvPr/>
        </p:nvSpPr>
        <p:spPr>
          <a:xfrm>
            <a:off x="269341" y="3429000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tuple1 = (1, 2, 3)</a:t>
            </a:r>
          </a:p>
          <a:p>
            <a:r>
              <a:rPr lang="en-IN" dirty="0"/>
              <a:t>tuple2 = (4, 5, 6)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Joining tuples</a:t>
            </a:r>
          </a:p>
          <a:p>
            <a:r>
              <a:rPr lang="en-IN" dirty="0" err="1"/>
              <a:t>combined_tuple</a:t>
            </a:r>
            <a:r>
              <a:rPr lang="en-IN" dirty="0"/>
              <a:t> = tuple1 + tuple2</a:t>
            </a:r>
          </a:p>
          <a:p>
            <a:r>
              <a:rPr lang="en-IN" dirty="0"/>
              <a:t>print(</a:t>
            </a:r>
            <a:r>
              <a:rPr lang="en-IN" dirty="0" err="1"/>
              <a:t>combined_tuple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(1, 2, 3, 4, 5, 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FCFABF-4FB3-F792-AC42-5D6FE498C459}"/>
              </a:ext>
            </a:extLst>
          </p:cNvPr>
          <p:cNvSpPr txBox="1"/>
          <p:nvPr/>
        </p:nvSpPr>
        <p:spPr>
          <a:xfrm>
            <a:off x="6525286" y="32232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7. Tuple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0727D-E3B4-F7F7-B963-26AD31F4585A}"/>
              </a:ext>
            </a:extLst>
          </p:cNvPr>
          <p:cNvSpPr txBox="1"/>
          <p:nvPr/>
        </p:nvSpPr>
        <p:spPr>
          <a:xfrm>
            <a:off x="6525286" y="805881"/>
            <a:ext cx="6310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(1, 2, 2, 3, 2, 4)</a:t>
            </a:r>
          </a:p>
          <a:p>
            <a:r>
              <a:rPr lang="en-IN" dirty="0"/>
              <a:t>count_of_2 = </a:t>
            </a:r>
            <a:r>
              <a:rPr lang="en-IN" dirty="0" err="1"/>
              <a:t>my_tuple.count</a:t>
            </a:r>
            <a:r>
              <a:rPr lang="en-IN" dirty="0"/>
              <a:t>(2)</a:t>
            </a:r>
          </a:p>
          <a:p>
            <a:r>
              <a:rPr lang="en-IN" dirty="0"/>
              <a:t>print(count_of_2)  </a:t>
            </a:r>
            <a:r>
              <a:rPr lang="en-IN" dirty="0">
                <a:solidFill>
                  <a:srgbClr val="00B050"/>
                </a:solidFill>
              </a:rPr>
              <a:t># Output: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C0366-170A-7DE9-8A8E-573B166C99E3}"/>
              </a:ext>
            </a:extLst>
          </p:cNvPr>
          <p:cNvSpPr txBox="1"/>
          <p:nvPr/>
        </p:nvSpPr>
        <p:spPr>
          <a:xfrm>
            <a:off x="6525286" y="1843433"/>
            <a:ext cx="64189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(1, 2, 3, 4, 5)</a:t>
            </a:r>
          </a:p>
          <a:p>
            <a:r>
              <a:rPr lang="en-IN" dirty="0"/>
              <a:t>index_of_3 = </a:t>
            </a:r>
            <a:r>
              <a:rPr lang="en-IN" dirty="0" err="1"/>
              <a:t>my_tuple.index</a:t>
            </a:r>
            <a:r>
              <a:rPr lang="en-IN" dirty="0"/>
              <a:t>(3)</a:t>
            </a:r>
          </a:p>
          <a:p>
            <a:r>
              <a:rPr lang="en-IN" dirty="0"/>
              <a:t>print(index_of_3)  </a:t>
            </a:r>
            <a:r>
              <a:rPr lang="en-IN" dirty="0">
                <a:solidFill>
                  <a:srgbClr val="00B050"/>
                </a:solidFill>
              </a:rPr>
              <a:t># Output: 2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If the value is not found</a:t>
            </a:r>
          </a:p>
          <a:p>
            <a:r>
              <a:rPr lang="en-IN" dirty="0">
                <a:solidFill>
                  <a:srgbClr val="00B050"/>
                </a:solidFill>
              </a:rPr>
              <a:t># index_of_10 = </a:t>
            </a:r>
            <a:r>
              <a:rPr lang="en-IN" dirty="0" err="1">
                <a:solidFill>
                  <a:srgbClr val="00B050"/>
                </a:solidFill>
              </a:rPr>
              <a:t>my_tuple.index</a:t>
            </a:r>
            <a:r>
              <a:rPr lang="en-IN" dirty="0">
                <a:solidFill>
                  <a:srgbClr val="00B050"/>
                </a:solidFill>
              </a:rPr>
              <a:t>(10)  # Raises </a:t>
            </a:r>
            <a:r>
              <a:rPr lang="en-IN" dirty="0" err="1">
                <a:solidFill>
                  <a:srgbClr val="00B050"/>
                </a:solidFill>
              </a:rPr>
              <a:t>ValueError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424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6788A3-8461-CE04-35EA-DCC5C988122F}"/>
              </a:ext>
            </a:extLst>
          </p:cNvPr>
          <p:cNvSpPr txBox="1"/>
          <p:nvPr/>
        </p:nvSpPr>
        <p:spPr>
          <a:xfrm>
            <a:off x="3047246" y="32232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Sets</a:t>
            </a:r>
          </a:p>
        </p:txBody>
      </p:sp>
      <p:pic>
        <p:nvPicPr>
          <p:cNvPr id="3074" name="Picture 2" descr="Python Sets">
            <a:extLst>
              <a:ext uri="{FF2B5EF4-FFF2-40B4-BE49-F238E27FC236}">
                <a16:creationId xmlns:a16="http://schemas.microsoft.com/office/drawing/2014/main" id="{B925EA3F-A9B6-E4D1-1FAB-E8E8C8680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947" y="760490"/>
            <a:ext cx="1900105" cy="145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AFD0DE-CFB6-8346-1990-44C65851E350}"/>
              </a:ext>
            </a:extLst>
          </p:cNvPr>
          <p:cNvSpPr txBox="1"/>
          <p:nvPr/>
        </p:nvSpPr>
        <p:spPr>
          <a:xfrm>
            <a:off x="169752" y="1823655"/>
            <a:ext cx="60975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Creating a Set of both string and numerical values </a:t>
            </a:r>
          </a:p>
          <a:p>
            <a:r>
              <a:rPr lang="en-IN" dirty="0" err="1"/>
              <a:t>mySet</a:t>
            </a:r>
            <a:r>
              <a:rPr lang="en-IN" dirty="0"/>
              <a:t> = set([90, '</a:t>
            </a:r>
            <a:r>
              <a:rPr lang="en-IN" dirty="0" err="1"/>
              <a:t>ScholarHat</a:t>
            </a:r>
            <a:r>
              <a:rPr lang="en-IN" dirty="0"/>
              <a:t>', 3.14, 'Shailendra Chauhan', 400, 'Sakshi'])</a:t>
            </a:r>
          </a:p>
          <a:p>
            <a:r>
              <a:rPr lang="en-IN" dirty="0"/>
              <a:t>print("\</a:t>
            </a:r>
            <a:r>
              <a:rPr lang="en-IN" dirty="0" err="1"/>
              <a:t>nA</a:t>
            </a:r>
            <a:r>
              <a:rPr lang="en-IN" dirty="0"/>
              <a:t> Set with mixed value types:")</a:t>
            </a:r>
          </a:p>
          <a:p>
            <a:r>
              <a:rPr lang="en-IN" dirty="0"/>
              <a:t>print(</a:t>
            </a:r>
            <a:r>
              <a:rPr lang="en-IN" dirty="0" err="1"/>
              <a:t>mySet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Iterating through the set using a for loop</a:t>
            </a:r>
          </a:p>
          <a:p>
            <a:r>
              <a:rPr lang="en-IN" dirty="0"/>
              <a:t>print("\</a:t>
            </a:r>
            <a:r>
              <a:rPr lang="en-IN" dirty="0" err="1"/>
              <a:t>nIterating</a:t>
            </a:r>
            <a:r>
              <a:rPr lang="en-IN" dirty="0"/>
              <a:t> through the elements of the set:")</a:t>
            </a:r>
          </a:p>
          <a:p>
            <a:r>
              <a:rPr lang="en-IN" dirty="0"/>
              <a:t>for item in </a:t>
            </a:r>
            <a:r>
              <a:rPr lang="en-IN" dirty="0" err="1"/>
              <a:t>mySet</a:t>
            </a:r>
            <a:r>
              <a:rPr lang="en-IN" dirty="0"/>
              <a:t>:</a:t>
            </a:r>
          </a:p>
          <a:p>
            <a:r>
              <a:rPr lang="en-IN" dirty="0"/>
              <a:t>    print(item, end=" ")</a:t>
            </a:r>
          </a:p>
          <a:p>
            <a:r>
              <a:rPr lang="en-IN" dirty="0"/>
              <a:t>print()</a:t>
            </a:r>
          </a:p>
          <a:p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#Iterating through the elements of the set: Sakshi 3.14 </a:t>
            </a:r>
            <a:r>
              <a:rPr lang="en-US" b="0" i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ScholarHat</a:t>
            </a:r>
            <a:r>
              <a:rPr lang="en-US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400 90 Shailendra Chauhan</a:t>
            </a:r>
          </a:p>
          <a:p>
            <a:endParaRPr lang="en-IN" dirty="0"/>
          </a:p>
          <a:p>
            <a:r>
              <a:rPr lang="en-IN" sz="1400" dirty="0">
                <a:solidFill>
                  <a:srgbClr val="00B050"/>
                </a:solidFill>
              </a:rPr>
              <a:t>#print(“hai”)</a:t>
            </a:r>
            <a:endParaRPr lang="en-IN" sz="1400" dirty="0"/>
          </a:p>
          <a:p>
            <a:r>
              <a:rPr lang="en-US" sz="1400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#Iterating through the elements of the set: Sakshi 3.14 </a:t>
            </a:r>
            <a:r>
              <a:rPr lang="en-US" sz="1400" b="0" i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ScholarHat</a:t>
            </a:r>
            <a:r>
              <a:rPr lang="en-US" sz="1400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400 90 Shailendra Chauhan </a:t>
            </a:r>
            <a:r>
              <a:rPr lang="en-US" sz="1400" b="0" i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hai</a:t>
            </a:r>
            <a:endParaRPr lang="en-US" sz="1400" b="0" i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00B050"/>
              </a:solidFill>
            </a:endParaRP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AA732-B5FF-29EA-145D-43FA1BC7658A}"/>
              </a:ext>
            </a:extLst>
          </p:cNvPr>
          <p:cNvSpPr txBox="1"/>
          <p:nvPr/>
        </p:nvSpPr>
        <p:spPr>
          <a:xfrm>
            <a:off x="6094492" y="3276736"/>
            <a:ext cx="60975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Creating a regular set</a:t>
            </a:r>
          </a:p>
          <a:p>
            <a:r>
              <a:rPr lang="en-IN" dirty="0" err="1"/>
              <a:t>regular_set</a:t>
            </a:r>
            <a:r>
              <a:rPr lang="en-IN" dirty="0"/>
              <a:t> = set(["Sakshi", "Pragati", "Shobha"])</a:t>
            </a:r>
          </a:p>
          <a:p>
            <a:endParaRPr lang="en-IN" dirty="0"/>
          </a:p>
          <a:p>
            <a:r>
              <a:rPr lang="en-IN" dirty="0"/>
              <a:t>print("Regular Set:")</a:t>
            </a:r>
          </a:p>
          <a:p>
            <a:r>
              <a:rPr lang="en-IN" dirty="0"/>
              <a:t>print(</a:t>
            </a:r>
            <a:r>
              <a:rPr lang="en-IN" dirty="0" err="1"/>
              <a:t>regular_set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Creating a </a:t>
            </a:r>
            <a:r>
              <a:rPr lang="en-IN" dirty="0" err="1">
                <a:solidFill>
                  <a:srgbClr val="FF0000"/>
                </a:solidFill>
              </a:rPr>
              <a:t>frozenset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 err="1"/>
              <a:t>immutable_set</a:t>
            </a:r>
            <a:r>
              <a:rPr lang="en-IN" dirty="0"/>
              <a:t> = </a:t>
            </a:r>
            <a:r>
              <a:rPr lang="en-IN" dirty="0" err="1"/>
              <a:t>frozenset</a:t>
            </a:r>
            <a:r>
              <a:rPr lang="en-IN" dirty="0"/>
              <a:t>(["Sourav", "Shailendra", "Girdhar"])</a:t>
            </a:r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nFrozen</a:t>
            </a:r>
            <a:r>
              <a:rPr lang="en-IN" dirty="0"/>
              <a:t> Set:")</a:t>
            </a:r>
          </a:p>
          <a:p>
            <a:r>
              <a:rPr lang="en-IN" dirty="0"/>
              <a:t>print(</a:t>
            </a:r>
            <a:r>
              <a:rPr lang="en-IN" dirty="0" err="1"/>
              <a:t>immutable_set</a:t>
            </a:r>
            <a:r>
              <a:rPr lang="en-IN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5FF0E-99CD-D23C-FD67-5F8D85FD804A}"/>
              </a:ext>
            </a:extLst>
          </p:cNvPr>
          <p:cNvSpPr txBox="1"/>
          <p:nvPr/>
        </p:nvSpPr>
        <p:spPr>
          <a:xfrm>
            <a:off x="6094492" y="2213571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Membership testing using the 'in' keyword</a:t>
            </a:r>
          </a:p>
          <a:p>
            <a:r>
              <a:rPr lang="en-IN" dirty="0"/>
              <a:t>print("'</a:t>
            </a:r>
            <a:r>
              <a:rPr lang="en-IN" dirty="0" err="1"/>
              <a:t>ScholarHat</a:t>
            </a:r>
            <a:r>
              <a:rPr lang="en-IN" dirty="0"/>
              <a:t>' present in the set:", '</a:t>
            </a:r>
            <a:r>
              <a:rPr lang="en-IN" dirty="0" err="1"/>
              <a:t>ScholarHat</a:t>
            </a:r>
            <a:r>
              <a:rPr lang="en-IN" dirty="0"/>
              <a:t>' in </a:t>
            </a:r>
            <a:r>
              <a:rPr lang="en-IN" dirty="0" err="1"/>
              <a:t>mySet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17498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4DD018-F894-796A-4429-04919DC40BF3}"/>
              </a:ext>
            </a:extLst>
          </p:cNvPr>
          <p:cNvSpPr txBox="1"/>
          <p:nvPr/>
        </p:nvSpPr>
        <p:spPr>
          <a:xfrm>
            <a:off x="387036" y="49434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Accessing Elements in a Set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7E035-A7CF-0355-2A83-9125A1F1FE1F}"/>
              </a:ext>
            </a:extLst>
          </p:cNvPr>
          <p:cNvSpPr txBox="1"/>
          <p:nvPr/>
        </p:nvSpPr>
        <p:spPr>
          <a:xfrm>
            <a:off x="387036" y="972440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3, 4, 5}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Checking for membership</a:t>
            </a:r>
          </a:p>
          <a:p>
            <a:r>
              <a:rPr lang="en-IN" dirty="0"/>
              <a:t>if 3 in </a:t>
            </a:r>
            <a:r>
              <a:rPr lang="en-IN" dirty="0" err="1"/>
              <a:t>my_set</a:t>
            </a:r>
            <a:r>
              <a:rPr lang="en-IN" dirty="0"/>
              <a:t>:</a:t>
            </a:r>
          </a:p>
          <a:p>
            <a:r>
              <a:rPr lang="en-IN" dirty="0"/>
              <a:t>    print("3 is in the set")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FC00FF-DDDC-CF33-DD75-9A0A71CF4C70}"/>
              </a:ext>
            </a:extLst>
          </p:cNvPr>
          <p:cNvSpPr txBox="1"/>
          <p:nvPr/>
        </p:nvSpPr>
        <p:spPr>
          <a:xfrm>
            <a:off x="387036" y="285729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Adding Elements to a Set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715C-A794-894E-74EA-693194E07758}"/>
              </a:ext>
            </a:extLst>
          </p:cNvPr>
          <p:cNvSpPr txBox="1"/>
          <p:nvPr/>
        </p:nvSpPr>
        <p:spPr>
          <a:xfrm>
            <a:off x="387036" y="3226630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3}</a:t>
            </a:r>
          </a:p>
          <a:p>
            <a:r>
              <a:rPr lang="en-IN" dirty="0" err="1"/>
              <a:t>my_set.add</a:t>
            </a:r>
            <a:r>
              <a:rPr lang="en-IN" dirty="0"/>
              <a:t>(4)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{1, 2, 3, 4}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55BC9-C00D-B69B-E9F2-777A45581091}"/>
              </a:ext>
            </a:extLst>
          </p:cNvPr>
          <p:cNvSpPr txBox="1"/>
          <p:nvPr/>
        </p:nvSpPr>
        <p:spPr>
          <a:xfrm>
            <a:off x="5707456" y="49434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Removing Elements from a Set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BE52D-3CE6-7246-0D16-55C62F270F5F}"/>
              </a:ext>
            </a:extLst>
          </p:cNvPr>
          <p:cNvSpPr txBox="1"/>
          <p:nvPr/>
        </p:nvSpPr>
        <p:spPr>
          <a:xfrm>
            <a:off x="5707456" y="863675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3, 4}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Using remove() (will raise </a:t>
            </a:r>
            <a:r>
              <a:rPr lang="en-IN" dirty="0" err="1">
                <a:solidFill>
                  <a:srgbClr val="FF0000"/>
                </a:solidFill>
              </a:rPr>
              <a:t>KeyError</a:t>
            </a:r>
            <a:r>
              <a:rPr lang="en-IN" dirty="0">
                <a:solidFill>
                  <a:srgbClr val="FF0000"/>
                </a:solidFill>
              </a:rPr>
              <a:t> if 5 is not in the set)</a:t>
            </a:r>
          </a:p>
          <a:p>
            <a:r>
              <a:rPr lang="en-IN" dirty="0" err="1"/>
              <a:t>my_set.remove</a:t>
            </a:r>
            <a:r>
              <a:rPr lang="en-IN" dirty="0"/>
              <a:t>(3)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{1, 2, 4}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Using discard() (will not raise an error if 5 is not in the set)</a:t>
            </a:r>
          </a:p>
          <a:p>
            <a:r>
              <a:rPr lang="en-IN" dirty="0" err="1"/>
              <a:t>my_set.discard</a:t>
            </a:r>
            <a:r>
              <a:rPr lang="en-IN" dirty="0"/>
              <a:t>(5)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{1, 2, 4}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467D9-020E-A502-4742-C252A8F59FD3}"/>
              </a:ext>
            </a:extLst>
          </p:cNvPr>
          <p:cNvSpPr txBox="1"/>
          <p:nvPr/>
        </p:nvSpPr>
        <p:spPr>
          <a:xfrm>
            <a:off x="5707456" y="3613821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3}</a:t>
            </a:r>
          </a:p>
          <a:p>
            <a:r>
              <a:rPr lang="en-IN" dirty="0"/>
              <a:t>element = </a:t>
            </a:r>
            <a:r>
              <a:rPr lang="en-IN" dirty="0" err="1"/>
              <a:t>my_set.pop</a:t>
            </a:r>
            <a:r>
              <a:rPr lang="en-IN" dirty="0"/>
              <a:t>()</a:t>
            </a:r>
          </a:p>
          <a:p>
            <a:r>
              <a:rPr lang="en-IN" dirty="0"/>
              <a:t>print(</a:t>
            </a:r>
            <a:r>
              <a:rPr lang="en-IN" dirty="0" err="1"/>
              <a:t>f"Removed</a:t>
            </a:r>
            <a:r>
              <a:rPr lang="en-IN" dirty="0"/>
              <a:t> element: {element}")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80AD15-B4F3-C183-EEA9-4D384711D40E}"/>
              </a:ext>
            </a:extLst>
          </p:cNvPr>
          <p:cNvSpPr txBox="1"/>
          <p:nvPr/>
        </p:nvSpPr>
        <p:spPr>
          <a:xfrm>
            <a:off x="3619123" y="505729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Looping Through a 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0CA818-D5AD-B8C8-B5CF-B00A2E3C8140}"/>
              </a:ext>
            </a:extLst>
          </p:cNvPr>
          <p:cNvSpPr txBox="1"/>
          <p:nvPr/>
        </p:nvSpPr>
        <p:spPr>
          <a:xfrm>
            <a:off x="3619123" y="5538085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3, 4}</a:t>
            </a:r>
          </a:p>
          <a:p>
            <a:endParaRPr lang="en-IN" dirty="0"/>
          </a:p>
          <a:p>
            <a:r>
              <a:rPr lang="en-IN" dirty="0"/>
              <a:t>for element in </a:t>
            </a:r>
            <a:r>
              <a:rPr lang="en-IN" dirty="0" err="1"/>
              <a:t>my_set</a:t>
            </a:r>
            <a:r>
              <a:rPr lang="en-IN" dirty="0"/>
              <a:t>:</a:t>
            </a:r>
          </a:p>
          <a:p>
            <a:r>
              <a:rPr lang="en-IN" dirty="0"/>
              <a:t>    print(element)</a:t>
            </a:r>
          </a:p>
        </p:txBody>
      </p:sp>
    </p:spTree>
    <p:extLst>
      <p:ext uri="{BB962C8B-B14F-4D97-AF65-F5344CB8AC3E}">
        <p14:creationId xmlns:p14="http://schemas.microsoft.com/office/powerpoint/2010/main" val="17657818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0562AC-1302-09CC-ADFE-C065DB5A7807}"/>
              </a:ext>
            </a:extLst>
          </p:cNvPr>
          <p:cNvSpPr txBox="1"/>
          <p:nvPr/>
        </p:nvSpPr>
        <p:spPr>
          <a:xfrm>
            <a:off x="221644" y="46509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Joining Sets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475A3E-55FE-311A-3799-97C30E6A9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44" y="834427"/>
            <a:ext cx="607730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Sets support several operations to combine them: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Union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two 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Intersection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common elements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Difference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elements in one set but not in another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Symmetric Difference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elements in either of the sets but not in both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138D5-CC1B-6CCF-95B6-8DD46AF5D941}"/>
              </a:ext>
            </a:extLst>
          </p:cNvPr>
          <p:cNvSpPr txBox="1"/>
          <p:nvPr/>
        </p:nvSpPr>
        <p:spPr>
          <a:xfrm>
            <a:off x="6298949" y="1779687"/>
            <a:ext cx="60975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set1 = {1, 2, 3}</a:t>
            </a:r>
          </a:p>
          <a:p>
            <a:r>
              <a:rPr lang="en-IN" dirty="0"/>
              <a:t>set2 = {3, 4, 5}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Union</a:t>
            </a:r>
          </a:p>
          <a:p>
            <a:r>
              <a:rPr lang="en-IN" dirty="0" err="1"/>
              <a:t>union_set</a:t>
            </a:r>
            <a:r>
              <a:rPr lang="en-IN" dirty="0"/>
              <a:t> = set1.union(set2)</a:t>
            </a:r>
          </a:p>
          <a:p>
            <a:r>
              <a:rPr lang="en-IN" dirty="0"/>
              <a:t>print(</a:t>
            </a:r>
            <a:r>
              <a:rPr lang="en-IN" dirty="0" err="1"/>
              <a:t>union_set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{1, 2, 3, 4, 5}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Intersection</a:t>
            </a:r>
          </a:p>
          <a:p>
            <a:r>
              <a:rPr lang="en-IN" dirty="0" err="1"/>
              <a:t>intersection_set</a:t>
            </a:r>
            <a:r>
              <a:rPr lang="en-IN" dirty="0"/>
              <a:t> = set1.intersection(set2)</a:t>
            </a:r>
          </a:p>
          <a:p>
            <a:r>
              <a:rPr lang="en-IN" dirty="0"/>
              <a:t>print(</a:t>
            </a:r>
            <a:r>
              <a:rPr lang="en-IN" dirty="0" err="1"/>
              <a:t>intersection_set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{3}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Difference</a:t>
            </a:r>
          </a:p>
          <a:p>
            <a:r>
              <a:rPr lang="en-IN" dirty="0" err="1"/>
              <a:t>difference_set</a:t>
            </a:r>
            <a:r>
              <a:rPr lang="en-IN" dirty="0"/>
              <a:t> = set1.difference(set2)</a:t>
            </a:r>
          </a:p>
          <a:p>
            <a:r>
              <a:rPr lang="en-IN" dirty="0"/>
              <a:t>print(</a:t>
            </a:r>
            <a:r>
              <a:rPr lang="en-IN" dirty="0" err="1"/>
              <a:t>difference_set</a:t>
            </a:r>
            <a:r>
              <a:rPr lang="en-IN" dirty="0"/>
              <a:t>) </a:t>
            </a:r>
            <a:r>
              <a:rPr lang="en-IN" dirty="0">
                <a:solidFill>
                  <a:srgbClr val="00B050"/>
                </a:solidFill>
              </a:rPr>
              <a:t> # Output: {1, 2}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Symmetric Difference</a:t>
            </a:r>
          </a:p>
          <a:p>
            <a:r>
              <a:rPr lang="en-IN" dirty="0" err="1"/>
              <a:t>symmetric_difference_set</a:t>
            </a:r>
            <a:r>
              <a:rPr lang="en-IN" dirty="0"/>
              <a:t> = set1.symmetric_difference(set2)</a:t>
            </a:r>
          </a:p>
          <a:p>
            <a:r>
              <a:rPr lang="en-IN" dirty="0"/>
              <a:t>print(</a:t>
            </a:r>
            <a:r>
              <a:rPr lang="en-IN" dirty="0" err="1"/>
              <a:t>symmetric_difference_set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{1, 2, 4, 5}</a:t>
            </a:r>
          </a:p>
        </p:txBody>
      </p:sp>
    </p:spTree>
    <p:extLst>
      <p:ext uri="{BB962C8B-B14F-4D97-AF65-F5344CB8AC3E}">
        <p14:creationId xmlns:p14="http://schemas.microsoft.com/office/powerpoint/2010/main" val="637349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E4B6BB-B286-3DDB-A003-312C49944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32" y="1015703"/>
            <a:ext cx="1017560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Common Set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Here’s a quick summary of some other useful set methods: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clear()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Removes all elements from the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copy()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Returns a shallow copy of the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issubset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set is a subset of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issuperset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set is a superset of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update(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Updates the set with elements 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intersection_update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Updates the set with the intersection of itself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difference_update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Updates the set by removing elements found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symmetric_difference_update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Updates the set with the symmetric difference of itself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other_set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415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8C9F9B-9786-9600-8FB3-7B901D7A05FD}"/>
              </a:ext>
            </a:extLst>
          </p:cNvPr>
          <p:cNvSpPr txBox="1"/>
          <p:nvPr/>
        </p:nvSpPr>
        <p:spPr>
          <a:xfrm>
            <a:off x="3048755" y="1307605"/>
            <a:ext cx="60975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70C0"/>
                </a:solidFill>
              </a:rPr>
              <a:t>my_set</a:t>
            </a:r>
            <a:r>
              <a:rPr lang="en-IN" dirty="0">
                <a:solidFill>
                  <a:srgbClr val="0070C0"/>
                </a:solidFill>
              </a:rPr>
              <a:t> = {1, 2, 3}</a:t>
            </a:r>
          </a:p>
          <a:p>
            <a:r>
              <a:rPr lang="en-IN" dirty="0" err="1">
                <a:solidFill>
                  <a:srgbClr val="0070C0"/>
                </a:solidFill>
              </a:rPr>
              <a:t>other_set</a:t>
            </a:r>
            <a:r>
              <a:rPr lang="en-IN" dirty="0">
                <a:solidFill>
                  <a:srgbClr val="0070C0"/>
                </a:solidFill>
              </a:rPr>
              <a:t> = {2, 3, 4}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Copy</a:t>
            </a:r>
          </a:p>
          <a:p>
            <a:r>
              <a:rPr lang="en-IN" dirty="0" err="1"/>
              <a:t>set_copy</a:t>
            </a:r>
            <a:r>
              <a:rPr lang="en-IN" dirty="0"/>
              <a:t> = </a:t>
            </a:r>
            <a:r>
              <a:rPr lang="en-IN" dirty="0" err="1"/>
              <a:t>my_set.copy</a:t>
            </a:r>
            <a:r>
              <a:rPr lang="en-IN" dirty="0"/>
              <a:t>()</a:t>
            </a:r>
          </a:p>
          <a:p>
            <a:r>
              <a:rPr lang="en-IN" dirty="0"/>
              <a:t>print(</a:t>
            </a:r>
            <a:r>
              <a:rPr lang="en-IN" dirty="0" err="1"/>
              <a:t>set_copy</a:t>
            </a:r>
            <a:r>
              <a:rPr lang="en-IN" dirty="0"/>
              <a:t>) </a:t>
            </a:r>
            <a:r>
              <a:rPr lang="en-IN" dirty="0">
                <a:solidFill>
                  <a:srgbClr val="00B050"/>
                </a:solidFill>
              </a:rPr>
              <a:t> # Output: {1, 2, 3}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Clear</a:t>
            </a:r>
          </a:p>
          <a:p>
            <a:r>
              <a:rPr lang="en-IN" dirty="0" err="1"/>
              <a:t>my_set.clear</a:t>
            </a:r>
            <a:r>
              <a:rPr lang="en-IN" dirty="0"/>
              <a:t>()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set()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Re-initialize sets</a:t>
            </a:r>
          </a:p>
          <a:p>
            <a:r>
              <a:rPr lang="en-IN" dirty="0" err="1"/>
              <a:t>my_set</a:t>
            </a:r>
            <a:r>
              <a:rPr lang="en-IN" dirty="0"/>
              <a:t> = {1, 2, 3}</a:t>
            </a:r>
          </a:p>
          <a:p>
            <a:r>
              <a:rPr lang="en-IN" dirty="0" err="1"/>
              <a:t>my_set.update</a:t>
            </a:r>
            <a:r>
              <a:rPr lang="en-IN" dirty="0"/>
              <a:t>(</a:t>
            </a:r>
            <a:r>
              <a:rPr lang="en-IN" dirty="0" err="1"/>
              <a:t>other_set</a:t>
            </a:r>
            <a:r>
              <a:rPr lang="en-IN" dirty="0"/>
              <a:t>)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Output: {1, 2, 3, 4}</a:t>
            </a:r>
          </a:p>
        </p:txBody>
      </p:sp>
    </p:spTree>
    <p:extLst>
      <p:ext uri="{BB962C8B-B14F-4D97-AF65-F5344CB8AC3E}">
        <p14:creationId xmlns:p14="http://schemas.microsoft.com/office/powerpoint/2010/main" val="1358456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6CCB7-9BFF-B72F-B164-480900395F45}"/>
              </a:ext>
            </a:extLst>
          </p:cNvPr>
          <p:cNvSpPr txBox="1"/>
          <p:nvPr/>
        </p:nvSpPr>
        <p:spPr>
          <a:xfrm>
            <a:off x="405143" y="130915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1. </a:t>
            </a:r>
            <a:r>
              <a:rPr lang="en-IN" b="1" dirty="0">
                <a:solidFill>
                  <a:srgbClr val="FF0000"/>
                </a:solidFill>
              </a:rPr>
              <a:t>String Indexing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6F1AD-6037-36A2-DF1B-09C0885874E0}"/>
              </a:ext>
            </a:extLst>
          </p:cNvPr>
          <p:cNvSpPr txBox="1"/>
          <p:nvPr/>
        </p:nvSpPr>
        <p:spPr>
          <a:xfrm>
            <a:off x="477571" y="1801701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"Hello, World!"</a:t>
            </a:r>
          </a:p>
          <a:p>
            <a:r>
              <a:rPr lang="en-IN" dirty="0"/>
              <a:t>print(s[0])  # Output: H</a:t>
            </a:r>
          </a:p>
          <a:p>
            <a:r>
              <a:rPr lang="en-IN" dirty="0"/>
              <a:t>print(s[7])  # Output: 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C0D84-65F6-9412-E79C-806714D849E7}"/>
              </a:ext>
            </a:extLst>
          </p:cNvPr>
          <p:cNvSpPr txBox="1"/>
          <p:nvPr/>
        </p:nvSpPr>
        <p:spPr>
          <a:xfrm>
            <a:off x="477571" y="3105834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print(s[-1])  # Output: !</a:t>
            </a:r>
          </a:p>
          <a:p>
            <a:r>
              <a:rPr lang="en-IN" dirty="0"/>
              <a:t>print(s[-2])  # Output: 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6ED7D-2018-4DEE-55EF-05B71E3D178B}"/>
              </a:ext>
            </a:extLst>
          </p:cNvPr>
          <p:cNvSpPr txBox="1"/>
          <p:nvPr/>
        </p:nvSpPr>
        <p:spPr>
          <a:xfrm>
            <a:off x="405143" y="284824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#Negative indices count from the end of the string: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1D310-AB5C-1E97-6288-6F3D54770436}"/>
              </a:ext>
            </a:extLst>
          </p:cNvPr>
          <p:cNvSpPr txBox="1"/>
          <p:nvPr/>
        </p:nvSpPr>
        <p:spPr>
          <a:xfrm>
            <a:off x="3047246" y="31290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STRING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D1B102-1A07-19FC-2978-CE7FA7707CB3}"/>
              </a:ext>
            </a:extLst>
          </p:cNvPr>
          <p:cNvSpPr txBox="1"/>
          <p:nvPr/>
        </p:nvSpPr>
        <p:spPr>
          <a:xfrm>
            <a:off x="405143" y="440996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2. </a:t>
            </a:r>
            <a:r>
              <a:rPr lang="en-IN" b="1" dirty="0">
                <a:solidFill>
                  <a:srgbClr val="FF0000"/>
                </a:solidFill>
              </a:rPr>
              <a:t>String Slicing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6B8F87-52F0-325D-8731-D535C32FC974}"/>
              </a:ext>
            </a:extLst>
          </p:cNvPr>
          <p:cNvSpPr txBox="1"/>
          <p:nvPr/>
        </p:nvSpPr>
        <p:spPr>
          <a:xfrm>
            <a:off x="405143" y="4974072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"Hello, World!"</a:t>
            </a:r>
          </a:p>
          <a:p>
            <a:r>
              <a:rPr lang="en-IN" dirty="0"/>
              <a:t>print(s[0:5])  # Output: Hello</a:t>
            </a:r>
          </a:p>
          <a:p>
            <a:r>
              <a:rPr lang="en-IN" dirty="0"/>
              <a:t>print(s[7:])   # Output: World!</a:t>
            </a:r>
          </a:p>
          <a:p>
            <a:r>
              <a:rPr lang="en-IN" dirty="0"/>
              <a:t>print(s[:5])   # Output: Hello</a:t>
            </a:r>
          </a:p>
          <a:p>
            <a:r>
              <a:rPr lang="en-IN" dirty="0"/>
              <a:t>print(s[::2])  # Output: </a:t>
            </a:r>
            <a:r>
              <a:rPr lang="en-IN" dirty="0" err="1"/>
              <a:t>Hlo</a:t>
            </a:r>
            <a:r>
              <a:rPr lang="en-IN" dirty="0"/>
              <a:t> </a:t>
            </a:r>
            <a:r>
              <a:rPr lang="en-IN" dirty="0" err="1"/>
              <a:t>ol</a:t>
            </a:r>
            <a:r>
              <a:rPr lang="en-IN" dirty="0"/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047BB-29B6-6FFB-5968-684DC85ECAD0}"/>
              </a:ext>
            </a:extLst>
          </p:cNvPr>
          <p:cNvSpPr txBox="1"/>
          <p:nvPr/>
        </p:nvSpPr>
        <p:spPr>
          <a:xfrm>
            <a:off x="7647916" y="1309155"/>
            <a:ext cx="234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 </a:t>
            </a:r>
            <a:r>
              <a:rPr lang="en-IN" b="1" dirty="0">
                <a:solidFill>
                  <a:srgbClr val="FF0000"/>
                </a:solidFill>
              </a:rPr>
              <a:t>Modify Methods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AC1D4-D18C-ED03-ACA5-46F0039A27C4}"/>
              </a:ext>
            </a:extLst>
          </p:cNvPr>
          <p:cNvSpPr txBox="1"/>
          <p:nvPr/>
        </p:nvSpPr>
        <p:spPr>
          <a:xfrm>
            <a:off x="7647916" y="1678487"/>
            <a:ext cx="3913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"Hello, World!"</a:t>
            </a:r>
          </a:p>
          <a:p>
            <a:r>
              <a:rPr lang="en-IN" dirty="0" err="1"/>
              <a:t>new_s</a:t>
            </a:r>
            <a:r>
              <a:rPr lang="en-IN" dirty="0"/>
              <a:t> = </a:t>
            </a:r>
            <a:r>
              <a:rPr lang="en-IN" dirty="0" err="1"/>
              <a:t>s.replace</a:t>
            </a:r>
            <a:r>
              <a:rPr lang="en-IN" dirty="0"/>
              <a:t>("World", "Python")</a:t>
            </a:r>
          </a:p>
          <a:p>
            <a:r>
              <a:rPr lang="en-IN" dirty="0"/>
              <a:t>print(</a:t>
            </a:r>
            <a:r>
              <a:rPr lang="en-IN" dirty="0" err="1"/>
              <a:t>new_s</a:t>
            </a:r>
            <a:r>
              <a:rPr lang="en-IN" dirty="0"/>
              <a:t>)  # Output: Hello, Python!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BFA7DD-019A-DBDF-5E13-AE2C37784F79}"/>
              </a:ext>
            </a:extLst>
          </p:cNvPr>
          <p:cNvSpPr txBox="1"/>
          <p:nvPr/>
        </p:nvSpPr>
        <p:spPr>
          <a:xfrm>
            <a:off x="7647916" y="2647983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"Hello, World!"</a:t>
            </a:r>
          </a:p>
          <a:p>
            <a:r>
              <a:rPr lang="en-IN" dirty="0"/>
              <a:t>print(</a:t>
            </a:r>
            <a:r>
              <a:rPr lang="en-IN" dirty="0" err="1"/>
              <a:t>s.upper</a:t>
            </a:r>
            <a:r>
              <a:rPr lang="en-IN" dirty="0"/>
              <a:t>())  # Output: HELLO, WORLD!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8E498F-5BD5-5AC1-3F39-2994446964D0}"/>
              </a:ext>
            </a:extLst>
          </p:cNvPr>
          <p:cNvSpPr txBox="1"/>
          <p:nvPr/>
        </p:nvSpPr>
        <p:spPr>
          <a:xfrm>
            <a:off x="7623019" y="3426581"/>
            <a:ext cx="6871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"Hello, World!"</a:t>
            </a:r>
          </a:p>
          <a:p>
            <a:r>
              <a:rPr lang="en-IN" dirty="0"/>
              <a:t>print(</a:t>
            </a:r>
            <a:r>
              <a:rPr lang="en-IN" dirty="0" err="1"/>
              <a:t>s.lower</a:t>
            </a:r>
            <a:r>
              <a:rPr lang="en-IN" dirty="0"/>
              <a:t>())  # Output: hello, world!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BB1A5A-5C46-012E-1B46-5BFF08DC7BA2}"/>
              </a:ext>
            </a:extLst>
          </p:cNvPr>
          <p:cNvSpPr txBox="1"/>
          <p:nvPr/>
        </p:nvSpPr>
        <p:spPr>
          <a:xfrm>
            <a:off x="7623019" y="4086801"/>
            <a:ext cx="7245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  Hello, World!  "</a:t>
            </a:r>
          </a:p>
          <a:p>
            <a:r>
              <a:rPr lang="en-IN" dirty="0"/>
              <a:t>print(</a:t>
            </a:r>
            <a:r>
              <a:rPr lang="en-IN" dirty="0" err="1"/>
              <a:t>s.strip</a:t>
            </a:r>
            <a:r>
              <a:rPr lang="en-IN" dirty="0"/>
              <a:t>())  # Output: Hello, World!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F5F710-C85A-BDA3-C2C4-3C4042CE2F1D}"/>
              </a:ext>
            </a:extLst>
          </p:cNvPr>
          <p:cNvSpPr txBox="1"/>
          <p:nvPr/>
        </p:nvSpPr>
        <p:spPr>
          <a:xfrm>
            <a:off x="7623019" y="4976832"/>
            <a:ext cx="743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4. </a:t>
            </a:r>
            <a:r>
              <a:rPr lang="en-IN" b="1" dirty="0">
                <a:solidFill>
                  <a:srgbClr val="FF0000"/>
                </a:solidFill>
              </a:rPr>
              <a:t>String Concatenation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144196-FD99-D206-7CE5-AE941D197242}"/>
              </a:ext>
            </a:extLst>
          </p:cNvPr>
          <p:cNvSpPr txBox="1"/>
          <p:nvPr/>
        </p:nvSpPr>
        <p:spPr>
          <a:xfrm>
            <a:off x="7647916" y="5342924"/>
            <a:ext cx="75251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s1 = "Hello"</a:t>
            </a:r>
          </a:p>
          <a:p>
            <a:r>
              <a:rPr lang="en-IN" dirty="0"/>
              <a:t>s2 = "World"</a:t>
            </a:r>
          </a:p>
          <a:p>
            <a:r>
              <a:rPr lang="en-IN" dirty="0"/>
              <a:t>result = s1 + ", " + s2 + "!"</a:t>
            </a:r>
          </a:p>
          <a:p>
            <a:r>
              <a:rPr lang="en-IN" dirty="0"/>
              <a:t>print(result)  #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31304865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68837A-191B-F9A8-25E4-BAF244930011}"/>
              </a:ext>
            </a:extLst>
          </p:cNvPr>
          <p:cNvSpPr txBox="1"/>
          <p:nvPr/>
        </p:nvSpPr>
        <p:spPr>
          <a:xfrm>
            <a:off x="142592" y="48163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5. </a:t>
            </a:r>
            <a:r>
              <a:rPr lang="en-IN" b="1" dirty="0">
                <a:solidFill>
                  <a:srgbClr val="FF0000"/>
                </a:solidFill>
              </a:rPr>
              <a:t>String Formatting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B56CC-4400-2C28-AF0E-D702F77461E7}"/>
              </a:ext>
            </a:extLst>
          </p:cNvPr>
          <p:cNvSpPr txBox="1"/>
          <p:nvPr/>
        </p:nvSpPr>
        <p:spPr>
          <a:xfrm>
            <a:off x="142592" y="1029459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name = "Alice"</a:t>
            </a:r>
          </a:p>
          <a:p>
            <a:r>
              <a:rPr lang="en-IN" dirty="0"/>
              <a:t>age = 30</a:t>
            </a:r>
          </a:p>
          <a:p>
            <a:r>
              <a:rPr lang="en-IN" dirty="0"/>
              <a:t>print(</a:t>
            </a:r>
            <a:r>
              <a:rPr lang="en-IN" dirty="0" err="1"/>
              <a:t>f"Name</a:t>
            </a:r>
            <a:r>
              <a:rPr lang="en-IN" dirty="0"/>
              <a:t>: {name}, Age: {age}") </a:t>
            </a:r>
            <a:r>
              <a:rPr lang="en-IN" dirty="0">
                <a:solidFill>
                  <a:srgbClr val="00B050"/>
                </a:solidFill>
              </a:rPr>
              <a:t> # Output: Name: Alice, Age: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D95BB-A1C0-4529-E330-E17ECF54FFBD}"/>
              </a:ext>
            </a:extLst>
          </p:cNvPr>
          <p:cNvSpPr txBox="1"/>
          <p:nvPr/>
        </p:nvSpPr>
        <p:spPr>
          <a:xfrm>
            <a:off x="142592" y="2408283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template = "Name: {}, Age: {}"</a:t>
            </a:r>
          </a:p>
          <a:p>
            <a:r>
              <a:rPr lang="en-IN" dirty="0"/>
              <a:t>print(</a:t>
            </a:r>
            <a:r>
              <a:rPr lang="en-IN" dirty="0" err="1"/>
              <a:t>template.format</a:t>
            </a:r>
            <a:r>
              <a:rPr lang="en-IN" dirty="0"/>
              <a:t>("Alice", 30))  </a:t>
            </a:r>
            <a:r>
              <a:rPr lang="en-IN" dirty="0">
                <a:solidFill>
                  <a:srgbClr val="00B050"/>
                </a:solidFill>
              </a:rPr>
              <a:t># Output: Name: Alice, Age: 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CDF5D-7CFB-9924-2B4E-A7CEE6BCE57E}"/>
              </a:ext>
            </a:extLst>
          </p:cNvPr>
          <p:cNvSpPr txBox="1"/>
          <p:nvPr/>
        </p:nvSpPr>
        <p:spPr>
          <a:xfrm>
            <a:off x="142592" y="3510108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name = "Alice"</a:t>
            </a:r>
          </a:p>
          <a:p>
            <a:r>
              <a:rPr lang="en-IN" dirty="0"/>
              <a:t>age = 30</a:t>
            </a:r>
          </a:p>
          <a:p>
            <a:r>
              <a:rPr lang="en-IN" dirty="0"/>
              <a:t>print("Name: %s, Age: %d" % (name, age))  </a:t>
            </a:r>
            <a:r>
              <a:rPr lang="en-IN" dirty="0">
                <a:solidFill>
                  <a:srgbClr val="00B050"/>
                </a:solidFill>
              </a:rPr>
              <a:t># Output: Name: Alice, Age: 30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030EE90-7D31-49D9-3AF6-4F3B20678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067" y="343133"/>
            <a:ext cx="5603341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6. Escape Characters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Escape characters are used to represent special characters within a string: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 new line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 tab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\\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 backslash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 double quote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 single quote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07A19-AADE-2F4E-EBDE-39E872C157F5}"/>
              </a:ext>
            </a:extLst>
          </p:cNvPr>
          <p:cNvSpPr txBox="1"/>
          <p:nvPr/>
        </p:nvSpPr>
        <p:spPr>
          <a:xfrm>
            <a:off x="6516233" y="3027577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"Hello\</a:t>
            </a:r>
            <a:r>
              <a:rPr lang="en-IN" dirty="0" err="1"/>
              <a:t>tWorld</a:t>
            </a:r>
            <a:r>
              <a:rPr lang="en-IN" dirty="0"/>
              <a:t>!\</a:t>
            </a:r>
            <a:r>
              <a:rPr lang="en-IN" dirty="0" err="1"/>
              <a:t>nThis</a:t>
            </a:r>
            <a:r>
              <a:rPr lang="en-IN" dirty="0"/>
              <a:t> is a line break."</a:t>
            </a:r>
          </a:p>
          <a:p>
            <a:r>
              <a:rPr lang="en-IN" dirty="0"/>
              <a:t>print(s)  </a:t>
            </a:r>
          </a:p>
          <a:p>
            <a:r>
              <a:rPr lang="en-IN" dirty="0"/>
              <a:t># Output:</a:t>
            </a:r>
          </a:p>
          <a:p>
            <a:r>
              <a:rPr lang="en-IN" dirty="0"/>
              <a:t># Hello   World!</a:t>
            </a:r>
          </a:p>
          <a:p>
            <a:r>
              <a:rPr lang="en-IN" dirty="0"/>
              <a:t># This is a line break.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05DD2-1A44-598E-2AA6-A6F93B7A763A}"/>
              </a:ext>
            </a:extLst>
          </p:cNvPr>
          <p:cNvSpPr txBox="1"/>
          <p:nvPr/>
        </p:nvSpPr>
        <p:spPr>
          <a:xfrm>
            <a:off x="6532077" y="4600120"/>
            <a:ext cx="630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7. </a:t>
            </a:r>
            <a:r>
              <a:rPr lang="en-IN" b="1" dirty="0">
                <a:solidFill>
                  <a:srgbClr val="FF0000"/>
                </a:solidFill>
              </a:rPr>
              <a:t>String Split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A73F8B-6A58-D5EB-2117-0728F97CF289}"/>
              </a:ext>
            </a:extLst>
          </p:cNvPr>
          <p:cNvSpPr txBox="1"/>
          <p:nvPr/>
        </p:nvSpPr>
        <p:spPr>
          <a:xfrm>
            <a:off x="6563763" y="4953143"/>
            <a:ext cx="643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</a:t>
            </a:r>
            <a:r>
              <a:rPr lang="en-IN" dirty="0" err="1"/>
              <a:t>apple,banana,cherry</a:t>
            </a:r>
            <a:r>
              <a:rPr lang="en-IN" dirty="0"/>
              <a:t>"</a:t>
            </a:r>
          </a:p>
          <a:p>
            <a:r>
              <a:rPr lang="en-IN" dirty="0"/>
              <a:t>result = </a:t>
            </a:r>
            <a:r>
              <a:rPr lang="en-IN" dirty="0" err="1"/>
              <a:t>s.split</a:t>
            </a:r>
            <a:r>
              <a:rPr lang="en-IN" dirty="0"/>
              <a:t>(",")</a:t>
            </a:r>
          </a:p>
          <a:p>
            <a:r>
              <a:rPr lang="en-IN" dirty="0"/>
              <a:t>print(result)  # Output: ['apple', 'banana', 'cherry']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409E0E-4B71-59C4-D31C-A54EC7BE6798}"/>
              </a:ext>
            </a:extLst>
          </p:cNvPr>
          <p:cNvSpPr txBox="1"/>
          <p:nvPr/>
        </p:nvSpPr>
        <p:spPr>
          <a:xfrm>
            <a:off x="6563763" y="5794279"/>
            <a:ext cx="6500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</a:t>
            </a:r>
            <a:r>
              <a:rPr lang="en-IN" dirty="0" err="1"/>
              <a:t>apple,banana,cherry,date</a:t>
            </a:r>
            <a:r>
              <a:rPr lang="en-IN" dirty="0"/>
              <a:t>"</a:t>
            </a:r>
          </a:p>
          <a:p>
            <a:r>
              <a:rPr lang="en-IN" dirty="0"/>
              <a:t>result = </a:t>
            </a:r>
            <a:r>
              <a:rPr lang="en-IN" dirty="0" err="1"/>
              <a:t>s.split</a:t>
            </a:r>
            <a:r>
              <a:rPr lang="en-IN" dirty="0"/>
              <a:t>(",", 2)</a:t>
            </a:r>
          </a:p>
          <a:p>
            <a:r>
              <a:rPr lang="en-IN" dirty="0"/>
              <a:t>print(result)  # Output: ['apple', 'banana', '</a:t>
            </a:r>
            <a:r>
              <a:rPr lang="en-IN" dirty="0" err="1"/>
              <a:t>cherry,date</a:t>
            </a:r>
            <a:r>
              <a:rPr lang="en-IN" dirty="0"/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2494129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5304</Words>
  <Application>Microsoft Office PowerPoint</Application>
  <PresentationFormat>Widescreen</PresentationFormat>
  <Paragraphs>763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Arial Unicode MS</vt:lpstr>
      <vt:lpstr>Calibri</vt:lpstr>
      <vt:lpstr>Calibri Light</vt:lpstr>
      <vt:lpstr>Consolas</vt:lpstr>
      <vt:lpstr>Roboto</vt:lpstr>
      <vt:lpstr>Source Sans 3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2025-10-05T11:21:04Z</dcterms:created>
  <dcterms:modified xsi:type="dcterms:W3CDTF">2025-10-05T11:21:13Z</dcterms:modified>
</cp:coreProperties>
</file>