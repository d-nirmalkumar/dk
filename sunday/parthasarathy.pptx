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324" r:id="rId41"/>
    <p:sldId id="325" r:id="rId42"/>
    <p:sldId id="296" r:id="rId43"/>
    <p:sldId id="305" r:id="rId44"/>
    <p:sldId id="306" r:id="rId45"/>
    <p:sldId id="297" r:id="rId46"/>
    <p:sldId id="309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A9ED-6370-1FF7-E0E7-434689695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A15DEA-BFFD-10AB-8173-54EB6BB40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1998D-7594-6D43-9003-5DDD98BA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84062-180F-432F-931F-AE6863950191}" type="datetimeFigureOut">
              <a:rPr lang="en-IN" smtClean="0"/>
              <a:t>26-Oct-2025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2F51-B6F9-FA8C-8470-C1524DA5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F01EA-248D-BE23-2EB7-683CBE92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C1A5-E2B5-4E4E-8ADB-BD87E1DD4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21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2682-CF6D-8304-2092-BEBCA4031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7598C-ACFB-56FE-79E9-46694D365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E43B3-B9F8-2825-DBA6-06360E7F4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84062-180F-432F-931F-AE6863950191}" type="datetimeFigureOut">
              <a:rPr lang="en-IN" smtClean="0"/>
              <a:t>26-Oct-2025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0152B-633A-24CE-D8FD-D125A8CF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E02C4-1E90-EB00-8DD9-5C99C3A3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C1A5-E2B5-4E4E-8ADB-BD87E1DD4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334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212BD-34C4-0B34-C17B-4FC210441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255B2-57CF-CB8A-C579-585038F26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F46F4-9F10-DDF5-9BF7-3D783B11A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84062-180F-432F-931F-AE6863950191}" type="datetimeFigureOut">
              <a:rPr lang="en-IN" smtClean="0"/>
              <a:t>26-Oct-2025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28F90-A3E1-3F91-A9F0-A783D1624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6D7F5-9BA6-BC39-8939-D61CD8DE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C1A5-E2B5-4E4E-8ADB-BD87E1DD4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23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58A1-BF7C-05DB-EAFE-279EC1DBF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68715-A65E-9E8C-FAF2-EC3FF2643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F8D99-7F8D-1C5A-169B-55D960368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D2910-7B60-B2C2-C432-69B8A08CC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84062-180F-432F-931F-AE6863950191}" type="datetimeFigureOut">
              <a:rPr lang="en-IN" smtClean="0"/>
              <a:t>26-Oct-2025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AAC6E-54FA-C3D1-0E1D-053A42E4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CF553-CA1B-994B-17D5-2F9D0F28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C1A5-E2B5-4E4E-8ADB-BD87E1DD4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7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71350-0616-4FCD-CDD4-555D9670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FDE8D-F968-C989-D68D-DFECF06AB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67343-F723-3F4D-975A-2DF30407E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9AF4D-BFCC-E505-2AEF-43EF34033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9E0BB8-1AD4-B05B-8492-051431296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7C15CC-C38C-4D9A-8C47-FAA31B65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84062-180F-432F-931F-AE6863950191}" type="datetimeFigureOut">
              <a:rPr lang="en-IN" smtClean="0"/>
              <a:t>26-Oct-2025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5FA9D-D0E3-067D-49E7-67D6FBD4D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850613-9C03-EAF9-88C5-BB082750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C1A5-E2B5-4E4E-8ADB-BD87E1DD4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706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C0AD-821A-C8C9-3F44-423FB667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A2136-6727-B5C4-9491-60B352379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84062-180F-432F-931F-AE6863950191}" type="datetimeFigureOut">
              <a:rPr lang="en-IN" smtClean="0"/>
              <a:t>26-Oct-2025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F526DB-1997-7615-59E6-FCFA5C8B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787D5-8F58-5309-3572-A1A2233B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C1A5-E2B5-4E4E-8ADB-BD87E1DD4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125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5DBDB6-C20E-E784-1E28-B0CAB98C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84062-180F-432F-931F-AE6863950191}" type="datetimeFigureOut">
              <a:rPr lang="en-IN" smtClean="0"/>
              <a:t>26-Oct-2025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840FE-26DC-D919-0BBA-600307873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E460F-5DCE-5D36-2971-10942E585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C1A5-E2B5-4E4E-8ADB-BD87E1DD4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010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01A42-A270-B058-C118-152FE5CFA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FCBDA-FF62-C823-5544-A14EECCEF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9AD98-620D-0935-2647-53B0725D2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BF4A4-314F-887D-1A64-661725627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84062-180F-432F-931F-AE6863950191}" type="datetimeFigureOut">
              <a:rPr lang="en-IN" smtClean="0"/>
              <a:t>26-Oct-2025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4B430-577C-5686-F040-5B5EEACD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47D7D-4E6C-05E1-26F6-0935BD99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C1A5-E2B5-4E4E-8ADB-BD87E1DD4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14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CC6D-B092-EDD2-B645-FFCB8E1A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8EA53-8514-66F2-D835-EC8526319B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9D3E6-DA4F-5DB5-D435-0E6DF9420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EA17D-7CAF-AA0D-E6FB-4665C41A9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84062-180F-432F-931F-AE6863950191}" type="datetimeFigureOut">
              <a:rPr lang="en-IN" smtClean="0"/>
              <a:t>26-Oct-2025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EFB78-B052-1CB6-C6C2-5206C6E8B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B36ED-266A-608D-E78A-6FF751C9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C1A5-E2B5-4E4E-8ADB-BD87E1DD4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70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18E9-C710-D9D2-BDCF-D190A2F3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0DE3F-E3E7-261D-F5E8-337AA9891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C3AE4-0CC6-2F4E-C384-57AC4B5BE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84062-180F-432F-931F-AE6863950191}" type="datetimeFigureOut">
              <a:rPr lang="en-IN" smtClean="0"/>
              <a:t>26-Oct-2025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85553-A108-E16F-BEC7-31304250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48EE0-09F1-0A32-30EF-7FDD1E95D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C1A5-E2B5-4E4E-8ADB-BD87E1DD4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328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CCE241-714D-7A3B-3EC1-261684CDE6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39D6D-FFB9-C3AE-D325-CD88C6FC2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474C3-7268-301C-9076-C9531F0A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84062-180F-432F-931F-AE6863950191}" type="datetimeFigureOut">
              <a:rPr lang="en-IN" smtClean="0"/>
              <a:t>26-Oct-2025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25B1A-0882-63B0-68C3-009CF845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5CC9B-CA5A-6FF6-C207-00696EABB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C1A5-E2B5-4E4E-8ADB-BD87E1DD4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5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9E45B-1349-CA2C-A66A-C1C151E4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586EE-F53E-B9E7-2AC8-105233EDF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BEF01-AD2F-0B82-BEE9-3F25885B9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84062-180F-432F-931F-AE6863950191}" type="datetimeFigureOut">
              <a:rPr lang="en-IN" smtClean="0"/>
              <a:t>26-Oct-2025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B84D9-1178-1F03-9753-FC001F47B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D8AD1-E499-1726-9DD0-28BC95BB4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0C1A5-E2B5-4E4E-8ADB-BD87E1DD4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92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holarhat.com/tutorial/python/data-types-in-pytho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scholarhat.com/tutorial/python/operators-of-python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scholarhat.com/tutorial/python/python-while-loop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scholarhat.com/tutorial/python/python-for-loop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scholarhat.com/tutorial/python/python-while-loop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6CDCC3-3DCF-9A30-470A-8365DA28785F}"/>
              </a:ext>
            </a:extLst>
          </p:cNvPr>
          <p:cNvSpPr txBox="1"/>
          <p:nvPr/>
        </p:nvSpPr>
        <p:spPr>
          <a:xfrm>
            <a:off x="4629092" y="2828835"/>
            <a:ext cx="29338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/>
              <a:t>Python</a:t>
            </a:r>
            <a:endParaRPr lang="en-IN" sz="7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6CDEF7-0FA4-4066-15D9-F1AF5510C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2509"/>
            <a:ext cx="12185964" cy="609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0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EA05D4-72D6-AA54-B477-F3FE17CE8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446" y="983693"/>
            <a:ext cx="5297107" cy="489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40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𝐃𝐚𝐲 # 4 🐍𝐔𝐧𝐥𝐨𝐜𝐤𝐢𝐧𝐠 𝐭𝐡𝐞 𝐏𝐨𝐰𝐞𝐫 𝐨𝐟 𝐏𝐲𝐭𝐡𝐨𝐧: Basic Data  Types in Python">
            <a:extLst>
              <a:ext uri="{FF2B5EF4-FFF2-40B4-BE49-F238E27FC236}">
                <a16:creationId xmlns:a16="http://schemas.microsoft.com/office/drawing/2014/main" id="{255A2AD2-C813-9C73-2D19-01263A17F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433" y="1113463"/>
            <a:ext cx="10013133" cy="463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F94AF8-2725-FD91-9C3B-1E14B2A8A8D2}"/>
              </a:ext>
            </a:extLst>
          </p:cNvPr>
          <p:cNvSpPr txBox="1"/>
          <p:nvPr/>
        </p:nvSpPr>
        <p:spPr>
          <a:xfrm>
            <a:off x="2540627" y="6287746"/>
            <a:ext cx="71107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https://www.scholarhat.com/tutorial/python/data-types-in-python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2261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EDC99C-F96F-2D5B-5760-83B6CE771228}"/>
              </a:ext>
            </a:extLst>
          </p:cNvPr>
          <p:cNvSpPr txBox="1"/>
          <p:nvPr/>
        </p:nvSpPr>
        <p:spPr>
          <a:xfrm>
            <a:off x="3047246" y="69352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1. Numeric data types 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A8E52-7D28-D77D-562D-FE1190D3BFD7}"/>
              </a:ext>
            </a:extLst>
          </p:cNvPr>
          <p:cNvSpPr txBox="1"/>
          <p:nvPr/>
        </p:nvSpPr>
        <p:spPr>
          <a:xfrm>
            <a:off x="1041149" y="2048067"/>
            <a:ext cx="933412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integer variable.</a:t>
            </a:r>
          </a:p>
          <a:p>
            <a:r>
              <a:rPr lang="en-IN" dirty="0"/>
              <a:t>a=150</a:t>
            </a:r>
          </a:p>
          <a:p>
            <a:r>
              <a:rPr lang="en-IN" dirty="0"/>
              <a:t>print("The type of variable having value", a, " is ", type(a))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float variable.</a:t>
            </a:r>
          </a:p>
          <a:p>
            <a:r>
              <a:rPr lang="en-IN" dirty="0"/>
              <a:t>b=20.846</a:t>
            </a:r>
          </a:p>
          <a:p>
            <a:r>
              <a:rPr lang="en-IN" dirty="0"/>
              <a:t>print("The type of variable having value", b, " is ", type(b))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complex variable.</a:t>
            </a:r>
          </a:p>
          <a:p>
            <a:r>
              <a:rPr lang="en-IN" dirty="0"/>
              <a:t>c=18+3j</a:t>
            </a:r>
          </a:p>
          <a:p>
            <a:r>
              <a:rPr lang="en-IN" dirty="0"/>
              <a:t>print("The type of variable having value", c, " is ", type(c))</a:t>
            </a:r>
          </a:p>
        </p:txBody>
      </p:sp>
    </p:spTree>
    <p:extLst>
      <p:ext uri="{BB962C8B-B14F-4D97-AF65-F5344CB8AC3E}">
        <p14:creationId xmlns:p14="http://schemas.microsoft.com/office/powerpoint/2010/main" val="3171535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7D2207-862E-374F-83AD-F97676263200}"/>
              </a:ext>
            </a:extLst>
          </p:cNvPr>
          <p:cNvSpPr txBox="1"/>
          <p:nvPr/>
        </p:nvSpPr>
        <p:spPr>
          <a:xfrm>
            <a:off x="3047246" y="95607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2. Python String Data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7E0B50-CA3F-0CF5-02F6-F17C83A1BAAF}"/>
              </a:ext>
            </a:extLst>
          </p:cNvPr>
          <p:cNvSpPr txBox="1"/>
          <p:nvPr/>
        </p:nvSpPr>
        <p:spPr>
          <a:xfrm>
            <a:off x="2559868" y="2186566"/>
            <a:ext cx="60975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  <a:p>
            <a:r>
              <a:rPr lang="en-IN" dirty="0"/>
              <a:t>str = 'Hello World!’</a:t>
            </a:r>
          </a:p>
          <a:p>
            <a:endParaRPr lang="en-IN" dirty="0"/>
          </a:p>
          <a:p>
            <a:r>
              <a:rPr lang="en-IN" dirty="0"/>
              <a:t>print (str) # Prints complete string</a:t>
            </a:r>
          </a:p>
          <a:p>
            <a:endParaRPr lang="en-IN" dirty="0"/>
          </a:p>
          <a:p>
            <a:r>
              <a:rPr lang="en-IN" dirty="0"/>
              <a:t>print (str[0]) # Prints first character of the string</a:t>
            </a:r>
          </a:p>
          <a:p>
            <a:endParaRPr lang="en-IN" dirty="0"/>
          </a:p>
          <a:p>
            <a:r>
              <a:rPr lang="en-IN" dirty="0"/>
              <a:t>print (str[2:5]) # Prints characters starting from 3rd to 5</a:t>
            </a:r>
            <a:r>
              <a:rPr lang="en-IN" baseline="30000" dirty="0"/>
              <a:t>th</a:t>
            </a:r>
            <a:endParaRPr lang="en-IN" dirty="0"/>
          </a:p>
          <a:p>
            <a:endParaRPr lang="en-IN" dirty="0"/>
          </a:p>
          <a:p>
            <a:r>
              <a:rPr lang="en-IN" dirty="0"/>
              <a:t>print (str[2:]) # Prints string stating from 3rd character</a:t>
            </a:r>
          </a:p>
          <a:p>
            <a:endParaRPr lang="en-IN" dirty="0"/>
          </a:p>
          <a:p>
            <a:r>
              <a:rPr lang="en-IN" dirty="0"/>
              <a:t>print (str * 2) # Prints string two times</a:t>
            </a:r>
          </a:p>
          <a:p>
            <a:endParaRPr lang="en-IN" dirty="0"/>
          </a:p>
          <a:p>
            <a:r>
              <a:rPr lang="en-IN" dirty="0"/>
              <a:t>print (str + "TEST") # Prints concatenated string</a:t>
            </a:r>
          </a:p>
        </p:txBody>
      </p:sp>
    </p:spTree>
    <p:extLst>
      <p:ext uri="{BB962C8B-B14F-4D97-AF65-F5344CB8AC3E}">
        <p14:creationId xmlns:p14="http://schemas.microsoft.com/office/powerpoint/2010/main" val="2620386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EAF26D-88D0-6B8A-CC26-64EC70E7C3BB}"/>
              </a:ext>
            </a:extLst>
          </p:cNvPr>
          <p:cNvSpPr txBox="1"/>
          <p:nvPr/>
        </p:nvSpPr>
        <p:spPr>
          <a:xfrm>
            <a:off x="3047246" y="71162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3. Python List Data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0560A-F83C-B38D-1156-0966191CD699}"/>
              </a:ext>
            </a:extLst>
          </p:cNvPr>
          <p:cNvSpPr txBox="1"/>
          <p:nvPr/>
        </p:nvSpPr>
        <p:spPr>
          <a:xfrm>
            <a:off x="3048755" y="2277101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list = [ '</a:t>
            </a:r>
            <a:r>
              <a:rPr lang="en-IN" dirty="0" err="1"/>
              <a:t>abcd</a:t>
            </a:r>
            <a:r>
              <a:rPr lang="en-IN" dirty="0"/>
              <a:t>', 786 , 2.23, 'Scholar-Hat', 70.2 ]</a:t>
            </a:r>
          </a:p>
          <a:p>
            <a:r>
              <a:rPr lang="en-IN" dirty="0" err="1"/>
              <a:t>tinylist</a:t>
            </a:r>
            <a:r>
              <a:rPr lang="en-IN" dirty="0"/>
              <a:t> = [123, 'Scholar-Hat']</a:t>
            </a:r>
          </a:p>
          <a:p>
            <a:r>
              <a:rPr lang="en-IN" dirty="0"/>
              <a:t>print (list) # Prints complete list</a:t>
            </a:r>
          </a:p>
          <a:p>
            <a:r>
              <a:rPr lang="en-IN" dirty="0"/>
              <a:t>print (list[0]) # Prints first element of the list</a:t>
            </a:r>
          </a:p>
          <a:p>
            <a:r>
              <a:rPr lang="en-IN" dirty="0"/>
              <a:t>print (list[1:3]) # Prints elements starting from 2nd till 3rd </a:t>
            </a:r>
          </a:p>
          <a:p>
            <a:r>
              <a:rPr lang="en-IN" dirty="0"/>
              <a:t>print (list[2:]) # Prints elements starting from 3rd element</a:t>
            </a:r>
          </a:p>
          <a:p>
            <a:r>
              <a:rPr lang="en-IN" dirty="0"/>
              <a:t>print (</a:t>
            </a:r>
            <a:r>
              <a:rPr lang="en-IN" dirty="0" err="1"/>
              <a:t>tinylist</a:t>
            </a:r>
            <a:r>
              <a:rPr lang="en-IN" dirty="0"/>
              <a:t> * 2) # Prints list two times</a:t>
            </a:r>
          </a:p>
          <a:p>
            <a:r>
              <a:rPr lang="en-IN" dirty="0"/>
              <a:t>print (list + </a:t>
            </a:r>
            <a:r>
              <a:rPr lang="en-IN" dirty="0" err="1"/>
              <a:t>tinylist</a:t>
            </a:r>
            <a:r>
              <a:rPr lang="en-IN" dirty="0"/>
              <a:t>) # Prints concatenated lists</a:t>
            </a:r>
          </a:p>
        </p:txBody>
      </p:sp>
    </p:spTree>
    <p:extLst>
      <p:ext uri="{BB962C8B-B14F-4D97-AF65-F5344CB8AC3E}">
        <p14:creationId xmlns:p14="http://schemas.microsoft.com/office/powerpoint/2010/main" val="1244687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5C067E-CEAC-9084-7AD9-579CD5BAF017}"/>
              </a:ext>
            </a:extLst>
          </p:cNvPr>
          <p:cNvSpPr txBox="1"/>
          <p:nvPr/>
        </p:nvSpPr>
        <p:spPr>
          <a:xfrm>
            <a:off x="3047246" y="123672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4. Python Tuple Data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6B8143-AABC-32AF-ED47-510BE126E3F3}"/>
              </a:ext>
            </a:extLst>
          </p:cNvPr>
          <p:cNvSpPr txBox="1"/>
          <p:nvPr/>
        </p:nvSpPr>
        <p:spPr>
          <a:xfrm>
            <a:off x="3048755" y="1861603"/>
            <a:ext cx="60975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  <a:p>
            <a:r>
              <a:rPr lang="en-IN" dirty="0"/>
              <a:t>tuple = ( '</a:t>
            </a:r>
            <a:r>
              <a:rPr lang="en-IN" dirty="0" err="1"/>
              <a:t>abcd</a:t>
            </a:r>
            <a:r>
              <a:rPr lang="en-IN" dirty="0"/>
              <a:t>', 786 , 2.23, 'Scholar-Hat', 70.2 )</a:t>
            </a:r>
          </a:p>
          <a:p>
            <a:r>
              <a:rPr lang="en-IN" dirty="0" err="1"/>
              <a:t>tinytuple</a:t>
            </a:r>
            <a:r>
              <a:rPr lang="en-IN" dirty="0"/>
              <a:t> = (123, 'Scholar-Hat')</a:t>
            </a:r>
          </a:p>
          <a:p>
            <a:r>
              <a:rPr lang="en-IN" dirty="0"/>
              <a:t>print (tuple) # Prints the complete tuple</a:t>
            </a:r>
          </a:p>
          <a:p>
            <a:r>
              <a:rPr lang="en-IN" dirty="0"/>
              <a:t>print (tuple[0]) # Prints first element of the tuple</a:t>
            </a:r>
          </a:p>
          <a:p>
            <a:r>
              <a:rPr lang="en-IN" dirty="0"/>
              <a:t>print (tuple[1:3]) # Prints elements of the tuple starting from 2nd till 3rd </a:t>
            </a:r>
          </a:p>
          <a:p>
            <a:r>
              <a:rPr lang="en-IN" dirty="0"/>
              <a:t>print (tuple[2:]) # Prints elements of the tuple starting from 3rd element</a:t>
            </a:r>
          </a:p>
          <a:p>
            <a:r>
              <a:rPr lang="en-IN" dirty="0"/>
              <a:t>print (</a:t>
            </a:r>
            <a:r>
              <a:rPr lang="en-IN" dirty="0" err="1"/>
              <a:t>tinytuple</a:t>
            </a:r>
            <a:r>
              <a:rPr lang="en-IN" dirty="0"/>
              <a:t> * 2) # Prints the contents of the tuple twice</a:t>
            </a:r>
          </a:p>
          <a:p>
            <a:r>
              <a:rPr lang="en-IN" dirty="0"/>
              <a:t>print (tuple + </a:t>
            </a:r>
            <a:r>
              <a:rPr lang="en-IN" dirty="0" err="1"/>
              <a:t>tinytuple</a:t>
            </a:r>
            <a:r>
              <a:rPr lang="en-IN" dirty="0"/>
              <a:t>) # Prints concatenated tuples</a:t>
            </a:r>
          </a:p>
        </p:txBody>
      </p:sp>
    </p:spTree>
    <p:extLst>
      <p:ext uri="{BB962C8B-B14F-4D97-AF65-F5344CB8AC3E}">
        <p14:creationId xmlns:p14="http://schemas.microsoft.com/office/powerpoint/2010/main" val="2672830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5A0F33-DF9B-07F1-4F81-3C3FDBF69F9C}"/>
              </a:ext>
            </a:extLst>
          </p:cNvPr>
          <p:cNvSpPr txBox="1"/>
          <p:nvPr/>
        </p:nvSpPr>
        <p:spPr>
          <a:xfrm>
            <a:off x="3047246" y="48529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5. Python Range Data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F88DBD-EF5B-919F-3133-954C88F5DED4}"/>
              </a:ext>
            </a:extLst>
          </p:cNvPr>
          <p:cNvSpPr txBox="1"/>
          <p:nvPr/>
        </p:nvSpPr>
        <p:spPr>
          <a:xfrm>
            <a:off x="3048755" y="3108098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range(1, 5):</a:t>
            </a:r>
          </a:p>
          <a:p>
            <a:r>
              <a:rPr lang="en-IN" dirty="0"/>
              <a:t> print(</a:t>
            </a:r>
            <a:r>
              <a:rPr lang="en-IN" dirty="0" err="1"/>
              <a:t>i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56239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FC06A7-8945-1B50-A47D-94428468D808}"/>
              </a:ext>
            </a:extLst>
          </p:cNvPr>
          <p:cNvSpPr txBox="1"/>
          <p:nvPr/>
        </p:nvSpPr>
        <p:spPr>
          <a:xfrm>
            <a:off x="3047246" y="85648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6. Python Dictionary Data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955E2-073E-BDD4-8190-795C3E63ECF6}"/>
              </a:ext>
            </a:extLst>
          </p:cNvPr>
          <p:cNvSpPr txBox="1"/>
          <p:nvPr/>
        </p:nvSpPr>
        <p:spPr>
          <a:xfrm>
            <a:off x="3048755" y="2138602"/>
            <a:ext cx="60975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dict</a:t>
            </a:r>
            <a:r>
              <a:rPr lang="en-IN" dirty="0"/>
              <a:t> = {}</a:t>
            </a:r>
          </a:p>
          <a:p>
            <a:r>
              <a:rPr lang="en-IN" dirty="0" err="1"/>
              <a:t>dict</a:t>
            </a:r>
            <a:r>
              <a:rPr lang="en-IN" dirty="0"/>
              <a:t>['one'] = "This is one"</a:t>
            </a:r>
          </a:p>
          <a:p>
            <a:r>
              <a:rPr lang="en-IN" dirty="0" err="1"/>
              <a:t>dict</a:t>
            </a:r>
            <a:r>
              <a:rPr lang="en-IN" dirty="0"/>
              <a:t>[2] = "This is two"</a:t>
            </a:r>
          </a:p>
          <a:p>
            <a:r>
              <a:rPr lang="en-IN" dirty="0" err="1"/>
              <a:t>tinydict</a:t>
            </a:r>
            <a:r>
              <a:rPr lang="en-IN" dirty="0"/>
              <a:t> = {'name': 'Scholar-Hat','code':6734, 'dept': 'sales'}</a:t>
            </a:r>
          </a:p>
          <a:p>
            <a:r>
              <a:rPr lang="en-IN" dirty="0"/>
              <a:t>print (</a:t>
            </a:r>
            <a:r>
              <a:rPr lang="en-IN" dirty="0" err="1"/>
              <a:t>dict</a:t>
            </a:r>
            <a:r>
              <a:rPr lang="en-IN" dirty="0"/>
              <a:t>['one']) # Prints value for 'one' key</a:t>
            </a:r>
          </a:p>
          <a:p>
            <a:r>
              <a:rPr lang="en-IN" dirty="0"/>
              <a:t>print (</a:t>
            </a:r>
            <a:r>
              <a:rPr lang="en-IN" dirty="0" err="1"/>
              <a:t>dict</a:t>
            </a:r>
            <a:r>
              <a:rPr lang="en-IN" dirty="0"/>
              <a:t>[2]) # Prints value for 2 key</a:t>
            </a:r>
          </a:p>
          <a:p>
            <a:r>
              <a:rPr lang="en-IN" dirty="0"/>
              <a:t>print (</a:t>
            </a:r>
            <a:r>
              <a:rPr lang="en-IN" dirty="0" err="1"/>
              <a:t>tinydict</a:t>
            </a:r>
            <a:r>
              <a:rPr lang="en-IN" dirty="0"/>
              <a:t>) # Prints complete dictionary</a:t>
            </a:r>
          </a:p>
          <a:p>
            <a:r>
              <a:rPr lang="en-IN" dirty="0"/>
              <a:t>print (</a:t>
            </a:r>
            <a:r>
              <a:rPr lang="en-IN" dirty="0" err="1"/>
              <a:t>tinydict.keys</a:t>
            </a:r>
            <a:r>
              <a:rPr lang="en-IN" dirty="0"/>
              <a:t>()) # Prints all the keys</a:t>
            </a:r>
          </a:p>
          <a:p>
            <a:r>
              <a:rPr lang="en-IN" dirty="0"/>
              <a:t>print (</a:t>
            </a:r>
            <a:r>
              <a:rPr lang="en-IN" dirty="0" err="1"/>
              <a:t>tinydict.values</a:t>
            </a:r>
            <a:r>
              <a:rPr lang="en-IN" dirty="0"/>
              <a:t>()) # Prints all the values</a:t>
            </a:r>
          </a:p>
        </p:txBody>
      </p:sp>
    </p:spTree>
    <p:extLst>
      <p:ext uri="{BB962C8B-B14F-4D97-AF65-F5344CB8AC3E}">
        <p14:creationId xmlns:p14="http://schemas.microsoft.com/office/powerpoint/2010/main" val="2719746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659F41-E353-179A-C773-1685D5712EB6}"/>
              </a:ext>
            </a:extLst>
          </p:cNvPr>
          <p:cNvSpPr txBox="1"/>
          <p:nvPr/>
        </p:nvSpPr>
        <p:spPr>
          <a:xfrm>
            <a:off x="3047246" y="90175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7. Python Boolean Data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550367-4067-579B-28A4-9C11C7E93D5F}"/>
              </a:ext>
            </a:extLst>
          </p:cNvPr>
          <p:cNvSpPr txBox="1"/>
          <p:nvPr/>
        </p:nvSpPr>
        <p:spPr>
          <a:xfrm>
            <a:off x="3048755" y="2554100"/>
            <a:ext cx="6097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= True</a:t>
            </a:r>
          </a:p>
          <a:p>
            <a:r>
              <a:rPr lang="en-IN" dirty="0"/>
              <a:t># display the value of a</a:t>
            </a:r>
          </a:p>
          <a:p>
            <a:r>
              <a:rPr lang="en-IN" dirty="0"/>
              <a:t>print(a)</a:t>
            </a:r>
          </a:p>
          <a:p>
            <a:endParaRPr lang="en-IN" dirty="0"/>
          </a:p>
          <a:p>
            <a:r>
              <a:rPr lang="en-IN" dirty="0"/>
              <a:t># display the data type of a</a:t>
            </a:r>
          </a:p>
          <a:p>
            <a:r>
              <a:rPr lang="en-IN" dirty="0"/>
              <a:t>print(type(a))</a:t>
            </a:r>
          </a:p>
        </p:txBody>
      </p:sp>
    </p:spTree>
    <p:extLst>
      <p:ext uri="{BB962C8B-B14F-4D97-AF65-F5344CB8AC3E}">
        <p14:creationId xmlns:p14="http://schemas.microsoft.com/office/powerpoint/2010/main" val="2884545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DACDCC-3570-BB5A-B77C-EE4FA05C1ABB}"/>
              </a:ext>
            </a:extLst>
          </p:cNvPr>
          <p:cNvSpPr txBox="1"/>
          <p:nvPr/>
        </p:nvSpPr>
        <p:spPr>
          <a:xfrm>
            <a:off x="3047246" y="94701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8. Python Set Data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8B7B9-6B59-EF4B-75B0-E4124671029C}"/>
              </a:ext>
            </a:extLst>
          </p:cNvPr>
          <p:cNvSpPr txBox="1"/>
          <p:nvPr/>
        </p:nvSpPr>
        <p:spPr>
          <a:xfrm>
            <a:off x="3048755" y="3108098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my_set</a:t>
            </a:r>
            <a:r>
              <a:rPr lang="en-IN" dirty="0"/>
              <a:t> = {1, 2, 3, 4, 5}</a:t>
            </a:r>
          </a:p>
          <a:p>
            <a:r>
              <a:rPr lang="en-IN" dirty="0"/>
              <a:t>print(</a:t>
            </a:r>
            <a:r>
              <a:rPr lang="en-IN" dirty="0" err="1"/>
              <a:t>my_set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4348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797009-2163-F9DF-F576-C8C20ED94A1A}"/>
              </a:ext>
            </a:extLst>
          </p:cNvPr>
          <p:cNvSpPr txBox="1"/>
          <p:nvPr/>
        </p:nvSpPr>
        <p:spPr>
          <a:xfrm>
            <a:off x="3047246" y="76594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Data type conversion function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A9A04-BC5F-EB49-3B6D-FF8C6348A884}"/>
              </a:ext>
            </a:extLst>
          </p:cNvPr>
          <p:cNvSpPr txBox="1"/>
          <p:nvPr/>
        </p:nvSpPr>
        <p:spPr>
          <a:xfrm>
            <a:off x="3048755" y="2554100"/>
            <a:ext cx="6097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= str(1) # a will be "1" </a:t>
            </a:r>
          </a:p>
          <a:p>
            <a:r>
              <a:rPr lang="en-IN" dirty="0"/>
              <a:t>b = str(2.2) # b will be "2.2"</a:t>
            </a:r>
          </a:p>
          <a:p>
            <a:r>
              <a:rPr lang="en-IN" dirty="0"/>
              <a:t>c = str("3.3") # c will be "3.3"</a:t>
            </a:r>
          </a:p>
          <a:p>
            <a:r>
              <a:rPr lang="en-IN" dirty="0"/>
              <a:t>print (a)</a:t>
            </a:r>
          </a:p>
          <a:p>
            <a:r>
              <a:rPr lang="en-IN" dirty="0"/>
              <a:t>print (b)</a:t>
            </a:r>
          </a:p>
          <a:p>
            <a:r>
              <a:rPr lang="en-IN" dirty="0"/>
              <a:t>print (c)</a:t>
            </a:r>
          </a:p>
        </p:txBody>
      </p:sp>
    </p:spTree>
    <p:extLst>
      <p:ext uri="{BB962C8B-B14F-4D97-AF65-F5344CB8AC3E}">
        <p14:creationId xmlns:p14="http://schemas.microsoft.com/office/powerpoint/2010/main" val="250873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37EC03-8B61-B1E6-CD23-169585466109}"/>
              </a:ext>
            </a:extLst>
          </p:cNvPr>
          <p:cNvSpPr txBox="1"/>
          <p:nvPr/>
        </p:nvSpPr>
        <p:spPr>
          <a:xfrm>
            <a:off x="3092514" y="6334727"/>
            <a:ext cx="653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hlinkClick r:id="rId2"/>
              </a:rPr>
              <a:t>https://www.scholarhat.com/tutorial/python/operators-of-python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B8A093-108F-6FCB-AB5C-E60160CF3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887" y="2071687"/>
            <a:ext cx="484822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86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C2D8CD-E07A-12D5-1E95-D7695BF55E6F}"/>
              </a:ext>
            </a:extLst>
          </p:cNvPr>
          <p:cNvSpPr txBox="1"/>
          <p:nvPr/>
        </p:nvSpPr>
        <p:spPr>
          <a:xfrm>
            <a:off x="3047246" y="71528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1. </a:t>
            </a:r>
            <a:r>
              <a:rPr lang="en-IN" dirty="0">
                <a:solidFill>
                  <a:srgbClr val="05B5B3"/>
                </a:solidFill>
                <a:highlight>
                  <a:srgbClr val="FFFFFF"/>
                </a:highlight>
                <a:latin typeface="Source Sans Pro" panose="020B0503030403020204" pitchFamily="34" charset="0"/>
              </a:rPr>
              <a:t>Python Arithmetic Operators</a:t>
            </a:r>
            <a:endParaRPr lang="en-IN" b="0" i="0" dirty="0">
              <a:solidFill>
                <a:srgbClr val="05B5B3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C9660F-ADF4-D3F7-BE6D-1A030AB91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1671637"/>
            <a:ext cx="902970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64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D3C044-8899-9DB3-DCA5-E1685416D090}"/>
              </a:ext>
            </a:extLst>
          </p:cNvPr>
          <p:cNvSpPr txBox="1"/>
          <p:nvPr/>
        </p:nvSpPr>
        <p:spPr>
          <a:xfrm>
            <a:off x="1229008" y="2429894"/>
            <a:ext cx="30080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00B050"/>
                </a:solidFill>
              </a:rPr>
              <a:t># Addition</a:t>
            </a:r>
          </a:p>
          <a:p>
            <a:r>
              <a:rPr lang="en-IN" dirty="0"/>
              <a:t>print ("a + b : ", a + b)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Subtraction</a:t>
            </a:r>
          </a:p>
          <a:p>
            <a:r>
              <a:rPr lang="en-IN" dirty="0"/>
              <a:t>print ("a - b : ", a - b)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Multiplication</a:t>
            </a:r>
          </a:p>
          <a:p>
            <a:r>
              <a:rPr lang="en-IN" dirty="0"/>
              <a:t>print ("a * b : ", a * b)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Division</a:t>
            </a:r>
          </a:p>
          <a:p>
            <a:r>
              <a:rPr lang="en-IN" dirty="0"/>
              <a:t>print ("a / b : ", a / b)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9C9EE-E980-347C-8C72-441CB2975C23}"/>
              </a:ext>
            </a:extLst>
          </p:cNvPr>
          <p:cNvSpPr txBox="1"/>
          <p:nvPr/>
        </p:nvSpPr>
        <p:spPr>
          <a:xfrm>
            <a:off x="8196403" y="3508374"/>
            <a:ext cx="37179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# Modulus</a:t>
            </a:r>
          </a:p>
          <a:p>
            <a:r>
              <a:rPr lang="en-IN" dirty="0"/>
              <a:t>print ("a % b : ", a % b)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Exponent</a:t>
            </a:r>
          </a:p>
          <a:p>
            <a:r>
              <a:rPr lang="en-IN" dirty="0"/>
              <a:t>print ("a ** b : ", a ** b)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Floor Division</a:t>
            </a:r>
          </a:p>
          <a:p>
            <a:r>
              <a:rPr lang="en-IN" dirty="0"/>
              <a:t>print ("a // b : ", a // 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F7B99-A63F-3CE2-0C3A-0978ABC75341}"/>
              </a:ext>
            </a:extLst>
          </p:cNvPr>
          <p:cNvSpPr txBox="1"/>
          <p:nvPr/>
        </p:nvSpPr>
        <p:spPr>
          <a:xfrm>
            <a:off x="5312122" y="742445"/>
            <a:ext cx="7838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 = 21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b = 10</a:t>
            </a:r>
          </a:p>
        </p:txBody>
      </p:sp>
    </p:spTree>
    <p:extLst>
      <p:ext uri="{BB962C8B-B14F-4D97-AF65-F5344CB8AC3E}">
        <p14:creationId xmlns:p14="http://schemas.microsoft.com/office/powerpoint/2010/main" val="1187884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0A93CA-8974-3BFB-8438-0D2373E4FDE0}"/>
              </a:ext>
            </a:extLst>
          </p:cNvPr>
          <p:cNvSpPr txBox="1"/>
          <p:nvPr/>
        </p:nvSpPr>
        <p:spPr>
          <a:xfrm>
            <a:off x="3047246" y="53055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2. Python Comparison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43A5E-43D4-1427-BC59-EA7B892FD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1637686"/>
            <a:ext cx="8972550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92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04241D-424F-514A-3AC7-2179B052978D}"/>
              </a:ext>
            </a:extLst>
          </p:cNvPr>
          <p:cNvSpPr txBox="1"/>
          <p:nvPr/>
        </p:nvSpPr>
        <p:spPr>
          <a:xfrm>
            <a:off x="4853412" y="1219767"/>
            <a:ext cx="6631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a = 4</a:t>
            </a:r>
          </a:p>
          <a:p>
            <a:endParaRPr lang="en-IN" dirty="0">
              <a:solidFill>
                <a:srgbClr val="00B050"/>
              </a:solidFill>
            </a:endParaRPr>
          </a:p>
          <a:p>
            <a:r>
              <a:rPr lang="en-IN" dirty="0">
                <a:solidFill>
                  <a:srgbClr val="00B050"/>
                </a:solidFill>
              </a:rPr>
              <a:t>b =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E171B2-A071-9FB5-3EC6-13CF18395137}"/>
              </a:ext>
            </a:extLst>
          </p:cNvPr>
          <p:cNvSpPr txBox="1"/>
          <p:nvPr/>
        </p:nvSpPr>
        <p:spPr>
          <a:xfrm>
            <a:off x="1174689" y="3083820"/>
            <a:ext cx="31166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Equal</a:t>
            </a:r>
          </a:p>
          <a:p>
            <a:r>
              <a:rPr lang="en-IN" dirty="0"/>
              <a:t>print ("a == b : ", a == b)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Not Equal</a:t>
            </a:r>
          </a:p>
          <a:p>
            <a:r>
              <a:rPr lang="en-IN" dirty="0"/>
              <a:t>print ("a != b : ", a != b)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# Greater Than</a:t>
            </a:r>
          </a:p>
          <a:p>
            <a:r>
              <a:rPr lang="en-IN" dirty="0"/>
              <a:t>print ("a &gt; b : ", a &gt; b)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BD4136-A23D-316A-3B82-17B7768F8336}"/>
              </a:ext>
            </a:extLst>
          </p:cNvPr>
          <p:cNvSpPr txBox="1"/>
          <p:nvPr/>
        </p:nvSpPr>
        <p:spPr>
          <a:xfrm>
            <a:off x="6371377" y="3083820"/>
            <a:ext cx="31800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Less Than</a:t>
            </a:r>
          </a:p>
          <a:p>
            <a:r>
              <a:rPr lang="en-IN" dirty="0"/>
              <a:t>print ("a &lt; b : ", a &lt; b)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# Greater Than or Equal to</a:t>
            </a:r>
          </a:p>
          <a:p>
            <a:r>
              <a:rPr lang="en-IN" dirty="0"/>
              <a:t>print ("a &gt;= b : ", a &gt;= b)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# Less Than or Equal to</a:t>
            </a:r>
          </a:p>
          <a:p>
            <a:r>
              <a:rPr lang="en-IN" dirty="0"/>
              <a:t>print ("a &lt;= b : ", a &lt;= b)</a:t>
            </a:r>
          </a:p>
        </p:txBody>
      </p:sp>
    </p:spTree>
    <p:extLst>
      <p:ext uri="{BB962C8B-B14F-4D97-AF65-F5344CB8AC3E}">
        <p14:creationId xmlns:p14="http://schemas.microsoft.com/office/powerpoint/2010/main" val="322325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2FFEF5-7208-63C8-029E-9F1BAFA2D45F}"/>
              </a:ext>
            </a:extLst>
          </p:cNvPr>
          <p:cNvSpPr txBox="1"/>
          <p:nvPr/>
        </p:nvSpPr>
        <p:spPr>
          <a:xfrm>
            <a:off x="3047246" y="46718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3. Python Assignment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73ADB-E739-75E1-2874-C0DA2AD5E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495425"/>
            <a:ext cx="894397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E727B5-FD92-1D03-F9FD-A3F3D4897866}"/>
              </a:ext>
            </a:extLst>
          </p:cNvPr>
          <p:cNvSpPr txBox="1"/>
          <p:nvPr/>
        </p:nvSpPr>
        <p:spPr>
          <a:xfrm>
            <a:off x="1699789" y="2218532"/>
            <a:ext cx="375945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Addition Assignment</a:t>
            </a:r>
          </a:p>
          <a:p>
            <a:r>
              <a:rPr lang="en-IN" dirty="0"/>
              <a:t>a += 5</a:t>
            </a:r>
          </a:p>
          <a:p>
            <a:r>
              <a:rPr lang="en-IN" dirty="0"/>
              <a:t>print ("a += 5 : ", a)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Subtraction Assignment</a:t>
            </a:r>
          </a:p>
          <a:p>
            <a:r>
              <a:rPr lang="en-IN" dirty="0"/>
              <a:t>a -= 5</a:t>
            </a:r>
          </a:p>
          <a:p>
            <a:r>
              <a:rPr lang="en-IN" dirty="0"/>
              <a:t>print ("a -= 5 : ", a)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Multiplication Assignment</a:t>
            </a:r>
          </a:p>
          <a:p>
            <a:r>
              <a:rPr lang="en-IN" dirty="0"/>
              <a:t>a *= 5</a:t>
            </a:r>
          </a:p>
          <a:p>
            <a:r>
              <a:rPr lang="en-IN" dirty="0"/>
              <a:t>print ("a *= 5 : ", a)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18B8B-8264-2142-11CC-D1A2331CB55D}"/>
              </a:ext>
            </a:extLst>
          </p:cNvPr>
          <p:cNvSpPr txBox="1"/>
          <p:nvPr/>
        </p:nvSpPr>
        <p:spPr>
          <a:xfrm>
            <a:off x="6660333" y="2218532"/>
            <a:ext cx="383187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Division Assignment</a:t>
            </a:r>
          </a:p>
          <a:p>
            <a:r>
              <a:rPr lang="en-IN" dirty="0"/>
              <a:t>a /= 5</a:t>
            </a:r>
          </a:p>
          <a:p>
            <a:r>
              <a:rPr lang="en-IN" dirty="0"/>
              <a:t>print ("a /= 5 : ",a)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Remainder Assignment</a:t>
            </a:r>
          </a:p>
          <a:p>
            <a:r>
              <a:rPr lang="en-IN" dirty="0"/>
              <a:t>a %= 3</a:t>
            </a:r>
          </a:p>
          <a:p>
            <a:r>
              <a:rPr lang="en-IN" dirty="0"/>
              <a:t>print ("a %= 3 : ", a)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Exponent Assignment</a:t>
            </a:r>
          </a:p>
          <a:p>
            <a:r>
              <a:rPr lang="en-IN" dirty="0"/>
              <a:t>a **= 2</a:t>
            </a:r>
          </a:p>
          <a:p>
            <a:r>
              <a:rPr lang="en-IN" dirty="0"/>
              <a:t>print ("a **= 2 : ", a)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Floor Division Assignment</a:t>
            </a:r>
          </a:p>
          <a:p>
            <a:r>
              <a:rPr lang="en-IN" dirty="0"/>
              <a:t>a //= 3</a:t>
            </a:r>
          </a:p>
          <a:p>
            <a:r>
              <a:rPr lang="en-IN" dirty="0"/>
              <a:t>print ("a //= 3 : ", 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253488-8351-460F-B21B-C6B3B62026D5}"/>
              </a:ext>
            </a:extLst>
          </p:cNvPr>
          <p:cNvSpPr txBox="1"/>
          <p:nvPr/>
        </p:nvSpPr>
        <p:spPr>
          <a:xfrm>
            <a:off x="2478764" y="78135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00B050"/>
                </a:solidFill>
              </a:rPr>
              <a:t># Assignment Operator</a:t>
            </a:r>
          </a:p>
          <a:p>
            <a:pPr algn="ctr"/>
            <a:r>
              <a:rPr lang="en-IN" dirty="0">
                <a:solidFill>
                  <a:srgbClr val="00B050"/>
                </a:solidFill>
              </a:rPr>
              <a:t>a = 10</a:t>
            </a:r>
          </a:p>
        </p:txBody>
      </p:sp>
    </p:spTree>
    <p:extLst>
      <p:ext uri="{BB962C8B-B14F-4D97-AF65-F5344CB8AC3E}">
        <p14:creationId xmlns:p14="http://schemas.microsoft.com/office/powerpoint/2010/main" val="337102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240F6E-33BE-E188-0E27-195CD83E5FCA}"/>
              </a:ext>
            </a:extLst>
          </p:cNvPr>
          <p:cNvSpPr txBox="1"/>
          <p:nvPr/>
        </p:nvSpPr>
        <p:spPr>
          <a:xfrm>
            <a:off x="3047246" y="58487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4. Python Bitwise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24181-E4D1-414C-A636-7FE630965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1304925"/>
            <a:ext cx="8982075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05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575D11-FC73-2056-97C1-A0A987183501}"/>
              </a:ext>
            </a:extLst>
          </p:cNvPr>
          <p:cNvSpPr txBox="1"/>
          <p:nvPr/>
        </p:nvSpPr>
        <p:spPr>
          <a:xfrm>
            <a:off x="1852943" y="2136338"/>
            <a:ext cx="31800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# Binary AND</a:t>
            </a:r>
          </a:p>
          <a:p>
            <a:r>
              <a:rPr lang="en-IN" dirty="0"/>
              <a:t>c = a &amp; b # 12 = 0000 1100</a:t>
            </a:r>
          </a:p>
          <a:p>
            <a:r>
              <a:rPr lang="en-IN" dirty="0"/>
              <a:t>print ("a &amp; b : ", c)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Binary OR</a:t>
            </a:r>
          </a:p>
          <a:p>
            <a:r>
              <a:rPr lang="en-IN" dirty="0"/>
              <a:t>c = a | b # 61 = 0011 1101</a:t>
            </a:r>
          </a:p>
          <a:p>
            <a:r>
              <a:rPr lang="en-IN" dirty="0"/>
              <a:t>print ("a | b : ", c)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Binary XOR</a:t>
            </a:r>
          </a:p>
          <a:p>
            <a:r>
              <a:rPr lang="en-IN" dirty="0"/>
              <a:t>c = a ^ b # 49 = 0011 0001</a:t>
            </a:r>
          </a:p>
          <a:p>
            <a:r>
              <a:rPr lang="en-IN" dirty="0"/>
              <a:t>print ("a ^ b : ", 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4A2D5A-7436-9904-7DB7-B919748C6363}"/>
              </a:ext>
            </a:extLst>
          </p:cNvPr>
          <p:cNvSpPr txBox="1"/>
          <p:nvPr/>
        </p:nvSpPr>
        <p:spPr>
          <a:xfrm>
            <a:off x="7378197" y="2136338"/>
            <a:ext cx="37956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# Binary Ones Complement</a:t>
            </a:r>
          </a:p>
          <a:p>
            <a:r>
              <a:rPr lang="en-IN" dirty="0"/>
              <a:t>c = ~a; # -61 = 1100 0011</a:t>
            </a:r>
          </a:p>
          <a:p>
            <a:r>
              <a:rPr lang="en-IN" dirty="0"/>
              <a:t>print ("~a : ", c)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Binary Left Shift</a:t>
            </a:r>
          </a:p>
          <a:p>
            <a:r>
              <a:rPr lang="en-IN" dirty="0"/>
              <a:t>c = a &lt;&lt; 2; # 240 = 1111 0000</a:t>
            </a:r>
          </a:p>
          <a:p>
            <a:r>
              <a:rPr lang="en-IN" dirty="0"/>
              <a:t>print ("a &lt;&lt; 2 : ", c)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Binary Right Shift</a:t>
            </a:r>
          </a:p>
          <a:p>
            <a:r>
              <a:rPr lang="en-IN" dirty="0"/>
              <a:t>c = a &gt;&gt; 2; # 15 = 0000 1111</a:t>
            </a:r>
          </a:p>
          <a:p>
            <a:r>
              <a:rPr lang="en-IN" dirty="0"/>
              <a:t>print ("a &gt;&gt; 2 : ", 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DED3F6-D2ED-A66D-B52C-1A2C05144DF4}"/>
              </a:ext>
            </a:extLst>
          </p:cNvPr>
          <p:cNvSpPr txBox="1"/>
          <p:nvPr/>
        </p:nvSpPr>
        <p:spPr>
          <a:xfrm>
            <a:off x="4813803" y="615108"/>
            <a:ext cx="25643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 = 60 # 60 = 0011 1100</a:t>
            </a:r>
          </a:p>
          <a:p>
            <a:r>
              <a:rPr lang="en-IN" dirty="0">
                <a:solidFill>
                  <a:srgbClr val="FF0000"/>
                </a:solidFill>
              </a:rPr>
              <a:t>b = 13 # 13 = 0000 1101</a:t>
            </a:r>
          </a:p>
        </p:txBody>
      </p:sp>
    </p:spTree>
    <p:extLst>
      <p:ext uri="{BB962C8B-B14F-4D97-AF65-F5344CB8AC3E}">
        <p14:creationId xmlns:p14="http://schemas.microsoft.com/office/powerpoint/2010/main" val="802133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70E59E-535F-61A2-9AC2-374417244EEA}"/>
              </a:ext>
            </a:extLst>
          </p:cNvPr>
          <p:cNvSpPr txBox="1"/>
          <p:nvPr/>
        </p:nvSpPr>
        <p:spPr>
          <a:xfrm>
            <a:off x="3047246" y="104660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5. Python Logical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5E9E1-60F6-9555-71DA-66F03EDCB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6" y="2528887"/>
            <a:ext cx="902017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86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262C30-3BBD-6709-5CE0-4CF23B5CED96}"/>
              </a:ext>
            </a:extLst>
          </p:cNvPr>
          <p:cNvSpPr txBox="1"/>
          <p:nvPr/>
        </p:nvSpPr>
        <p:spPr>
          <a:xfrm>
            <a:off x="3048755" y="2831099"/>
            <a:ext cx="60975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x = 5</a:t>
            </a:r>
          </a:p>
          <a:p>
            <a:r>
              <a:rPr lang="en-IN" dirty="0">
                <a:solidFill>
                  <a:srgbClr val="00B050"/>
                </a:solidFill>
              </a:rPr>
              <a:t>y = 10</a:t>
            </a:r>
          </a:p>
          <a:p>
            <a:endParaRPr lang="en-IN" dirty="0">
              <a:solidFill>
                <a:srgbClr val="00B050"/>
              </a:solidFill>
            </a:endParaRPr>
          </a:p>
          <a:p>
            <a:endParaRPr lang="en-IN" dirty="0">
              <a:solidFill>
                <a:srgbClr val="00B050"/>
              </a:solidFill>
            </a:endParaRPr>
          </a:p>
          <a:p>
            <a:endParaRPr lang="en-IN" dirty="0">
              <a:solidFill>
                <a:srgbClr val="00B050"/>
              </a:solidFill>
            </a:endParaRPr>
          </a:p>
          <a:p>
            <a:r>
              <a:rPr lang="en-IN" dirty="0"/>
              <a:t>if x &gt; 3 and y &lt; 15:</a:t>
            </a:r>
          </a:p>
          <a:p>
            <a:r>
              <a:rPr lang="en-IN" dirty="0"/>
              <a:t>  print("Both x and y are within the specified range")</a:t>
            </a:r>
          </a:p>
        </p:txBody>
      </p:sp>
    </p:spTree>
    <p:extLst>
      <p:ext uri="{BB962C8B-B14F-4D97-AF65-F5344CB8AC3E}">
        <p14:creationId xmlns:p14="http://schemas.microsoft.com/office/powerpoint/2010/main" val="3925261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BFE573-9B7A-BC4E-8FBC-C8CEB7028928}"/>
              </a:ext>
            </a:extLst>
          </p:cNvPr>
          <p:cNvSpPr txBox="1"/>
          <p:nvPr/>
        </p:nvSpPr>
        <p:spPr>
          <a:xfrm>
            <a:off x="3047246" y="69352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6. Python Membership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7AD70-0DE6-98EE-7E2F-1745D5652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2476500"/>
            <a:ext cx="894397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41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B23D13-578B-AC52-65DE-9EA0CBC379C7}"/>
              </a:ext>
            </a:extLst>
          </p:cNvPr>
          <p:cNvSpPr txBox="1"/>
          <p:nvPr/>
        </p:nvSpPr>
        <p:spPr>
          <a:xfrm>
            <a:off x="3047246" y="2013589"/>
            <a:ext cx="60975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fruits = ["apple", "banana", "cherry"]</a:t>
            </a:r>
          </a:p>
          <a:p>
            <a:endParaRPr lang="en-IN" dirty="0">
              <a:solidFill>
                <a:srgbClr val="00B050"/>
              </a:solidFill>
            </a:endParaRPr>
          </a:p>
          <a:p>
            <a:r>
              <a:rPr lang="en-IN" dirty="0"/>
              <a:t>if "banana" in fruits:</a:t>
            </a:r>
          </a:p>
          <a:p>
            <a:r>
              <a:rPr lang="en-IN" dirty="0"/>
              <a:t>    print("Yes, banana is a fruit!")</a:t>
            </a:r>
          </a:p>
          <a:p>
            <a:endParaRPr lang="en-IN" dirty="0"/>
          </a:p>
          <a:p>
            <a:r>
              <a:rPr lang="en-IN" dirty="0"/>
              <a:t>else:</a:t>
            </a:r>
          </a:p>
          <a:p>
            <a:r>
              <a:rPr lang="en-IN" dirty="0"/>
              <a:t>    print("No, banana is not a fruit!")</a:t>
            </a:r>
          </a:p>
        </p:txBody>
      </p:sp>
    </p:spTree>
    <p:extLst>
      <p:ext uri="{BB962C8B-B14F-4D97-AF65-F5344CB8AC3E}">
        <p14:creationId xmlns:p14="http://schemas.microsoft.com/office/powerpoint/2010/main" val="2494831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0E0B18-817D-5AD9-45D3-E829BC1A1107}"/>
              </a:ext>
            </a:extLst>
          </p:cNvPr>
          <p:cNvSpPr txBox="1"/>
          <p:nvPr/>
        </p:nvSpPr>
        <p:spPr>
          <a:xfrm>
            <a:off x="3047246" y="53961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7. Python Identity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A29C9-A2B5-16B9-6EC4-E1663BD9B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75" y="2466975"/>
            <a:ext cx="901065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892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852A6F-F318-0717-8894-E2B4D2FAAC6D}"/>
              </a:ext>
            </a:extLst>
          </p:cNvPr>
          <p:cNvSpPr txBox="1"/>
          <p:nvPr/>
        </p:nvSpPr>
        <p:spPr>
          <a:xfrm>
            <a:off x="3048755" y="2554100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x = 10</a:t>
            </a:r>
          </a:p>
          <a:p>
            <a:r>
              <a:rPr lang="en-IN" dirty="0">
                <a:solidFill>
                  <a:srgbClr val="00B050"/>
                </a:solidFill>
              </a:rPr>
              <a:t>y = 5</a:t>
            </a:r>
          </a:p>
          <a:p>
            <a:endParaRPr lang="en-IN" dirty="0">
              <a:solidFill>
                <a:srgbClr val="00B050"/>
              </a:solidFill>
            </a:endParaRPr>
          </a:p>
          <a:p>
            <a:r>
              <a:rPr lang="en-IN" dirty="0"/>
              <a:t>if x is y:</a:t>
            </a:r>
          </a:p>
          <a:p>
            <a:r>
              <a:rPr lang="en-IN" dirty="0"/>
              <a:t>    print("x and y are the same object")</a:t>
            </a:r>
          </a:p>
          <a:p>
            <a:endParaRPr lang="en-IN" dirty="0"/>
          </a:p>
          <a:p>
            <a:r>
              <a:rPr lang="en-IN" dirty="0"/>
              <a:t>else:</a:t>
            </a:r>
          </a:p>
          <a:p>
            <a:r>
              <a:rPr lang="en-IN" dirty="0"/>
              <a:t>    print("x and y are not the same object")</a:t>
            </a:r>
          </a:p>
        </p:txBody>
      </p:sp>
    </p:spTree>
    <p:extLst>
      <p:ext uri="{BB962C8B-B14F-4D97-AF65-F5344CB8AC3E}">
        <p14:creationId xmlns:p14="http://schemas.microsoft.com/office/powerpoint/2010/main" val="1244359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41300F-4208-9305-53BC-122477B59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87" y="752475"/>
            <a:ext cx="9039225" cy="6105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4B87DD-FA00-752F-FA70-70E264D3CB39}"/>
              </a:ext>
            </a:extLst>
          </p:cNvPr>
          <p:cNvSpPr txBox="1"/>
          <p:nvPr/>
        </p:nvSpPr>
        <p:spPr>
          <a:xfrm>
            <a:off x="2894846" y="24990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Python Operators Precedence</a:t>
            </a:r>
          </a:p>
        </p:txBody>
      </p:sp>
    </p:spTree>
    <p:extLst>
      <p:ext uri="{BB962C8B-B14F-4D97-AF65-F5344CB8AC3E}">
        <p14:creationId xmlns:p14="http://schemas.microsoft.com/office/powerpoint/2010/main" val="4062141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nditional Statements in Python | Python For Beginners | K21Academy">
            <a:extLst>
              <a:ext uri="{FF2B5EF4-FFF2-40B4-BE49-F238E27FC236}">
                <a16:creationId xmlns:a16="http://schemas.microsoft.com/office/drawing/2014/main" id="{CA668863-DD70-8A46-86AA-53B4F00B3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16" y="185030"/>
            <a:ext cx="11534115" cy="648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509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90D9C1-F48F-97ED-E680-D51C187E1B46}"/>
              </a:ext>
            </a:extLst>
          </p:cNvPr>
          <p:cNvSpPr txBox="1"/>
          <p:nvPr/>
        </p:nvSpPr>
        <p:spPr>
          <a:xfrm>
            <a:off x="3047246" y="83837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1. If statements in python</a:t>
            </a:r>
          </a:p>
        </p:txBody>
      </p:sp>
      <p:pic>
        <p:nvPicPr>
          <p:cNvPr id="1026" name="Picture 2" descr="If Statement in Python">
            <a:extLst>
              <a:ext uri="{FF2B5EF4-FFF2-40B4-BE49-F238E27FC236}">
                <a16:creationId xmlns:a16="http://schemas.microsoft.com/office/drawing/2014/main" id="{4033EC14-F40A-8F0F-AB21-96FBB15F0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896" y="1628412"/>
            <a:ext cx="2112208" cy="309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3D4062-2C4B-5510-4685-2E5512960F99}"/>
              </a:ext>
            </a:extLst>
          </p:cNvPr>
          <p:cNvSpPr txBox="1"/>
          <p:nvPr/>
        </p:nvSpPr>
        <p:spPr>
          <a:xfrm>
            <a:off x="3047246" y="5143298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num</a:t>
            </a:r>
            <a:r>
              <a:rPr lang="en-IN" dirty="0"/>
              <a:t> = 8</a:t>
            </a:r>
          </a:p>
          <a:p>
            <a:endParaRPr lang="en-IN" dirty="0"/>
          </a:p>
          <a:p>
            <a:r>
              <a:rPr lang="en-IN" dirty="0"/>
              <a:t>if </a:t>
            </a:r>
            <a:r>
              <a:rPr lang="en-IN" dirty="0" err="1"/>
              <a:t>num</a:t>
            </a:r>
            <a:r>
              <a:rPr lang="en-IN" dirty="0"/>
              <a:t> &gt; 0:</a:t>
            </a:r>
          </a:p>
          <a:p>
            <a:r>
              <a:rPr lang="en-IN" dirty="0"/>
              <a:t>  print("The number is positive.")</a:t>
            </a:r>
          </a:p>
        </p:txBody>
      </p:sp>
    </p:spTree>
    <p:extLst>
      <p:ext uri="{BB962C8B-B14F-4D97-AF65-F5344CB8AC3E}">
        <p14:creationId xmlns:p14="http://schemas.microsoft.com/office/powerpoint/2010/main" val="2174524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8683C9-4F05-225D-8C33-B49B21B8A6F3}"/>
              </a:ext>
            </a:extLst>
          </p:cNvPr>
          <p:cNvSpPr txBox="1"/>
          <p:nvPr/>
        </p:nvSpPr>
        <p:spPr>
          <a:xfrm>
            <a:off x="3047246" y="23179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2. </a:t>
            </a:r>
            <a:r>
              <a:rPr lang="en-US" dirty="0">
                <a:solidFill>
                  <a:srgbClr val="05B5B3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If else statement in python</a:t>
            </a:r>
            <a:endParaRPr lang="en-US" b="0" i="0" dirty="0">
              <a:solidFill>
                <a:srgbClr val="05B5B3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sp>
        <p:nvSpPr>
          <p:cNvPr id="5" name="AutoShape 4" descr="If else statement in python">
            <a:extLst>
              <a:ext uri="{FF2B5EF4-FFF2-40B4-BE49-F238E27FC236}">
                <a16:creationId xmlns:a16="http://schemas.microsoft.com/office/drawing/2014/main" id="{F21C481A-3E6C-87E7-96FD-07D7C2D9F8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 descr="If else statement in python">
            <a:extLst>
              <a:ext uri="{FF2B5EF4-FFF2-40B4-BE49-F238E27FC236}">
                <a16:creationId xmlns:a16="http://schemas.microsoft.com/office/drawing/2014/main" id="{9EF7B297-DC3B-7250-2163-5D16D3B261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6CBCAD-549F-7A59-153B-1759D5C44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993193"/>
            <a:ext cx="3429000" cy="38576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AC9FDB-6179-14B8-2AA4-7043B0B42721}"/>
              </a:ext>
            </a:extLst>
          </p:cNvPr>
          <p:cNvSpPr txBox="1"/>
          <p:nvPr/>
        </p:nvSpPr>
        <p:spPr>
          <a:xfrm>
            <a:off x="3047246" y="5003218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num</a:t>
            </a:r>
            <a:r>
              <a:rPr lang="en-IN" dirty="0"/>
              <a:t> = 11</a:t>
            </a:r>
          </a:p>
          <a:p>
            <a:r>
              <a:rPr lang="en-IN" dirty="0"/>
              <a:t>if </a:t>
            </a:r>
            <a:r>
              <a:rPr lang="en-IN" dirty="0" err="1"/>
              <a:t>num</a:t>
            </a:r>
            <a:r>
              <a:rPr lang="en-IN" dirty="0"/>
              <a:t> % 2 == 0:</a:t>
            </a:r>
          </a:p>
          <a:p>
            <a:r>
              <a:rPr lang="en-IN" dirty="0"/>
              <a:t>  print("The number is even.")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print("The number is odd.")</a:t>
            </a:r>
          </a:p>
        </p:txBody>
      </p:sp>
    </p:spTree>
    <p:extLst>
      <p:ext uri="{BB962C8B-B14F-4D97-AF65-F5344CB8AC3E}">
        <p14:creationId xmlns:p14="http://schemas.microsoft.com/office/powerpoint/2010/main" val="4080222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3B4A82-A5C3-480C-C02A-ABB56488AEAB}"/>
              </a:ext>
            </a:extLst>
          </p:cNvPr>
          <p:cNvSpPr txBox="1"/>
          <p:nvPr/>
        </p:nvSpPr>
        <p:spPr>
          <a:xfrm>
            <a:off x="3047246" y="28081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3. Nested if else statement 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5B231-199E-24FD-1789-50FC6C0B067B}"/>
              </a:ext>
            </a:extLst>
          </p:cNvPr>
          <p:cNvSpPr txBox="1"/>
          <p:nvPr/>
        </p:nvSpPr>
        <p:spPr>
          <a:xfrm>
            <a:off x="3047246" y="4268864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num</a:t>
            </a:r>
            <a:r>
              <a:rPr lang="en-IN" dirty="0"/>
              <a:t> = 3</a:t>
            </a:r>
          </a:p>
          <a:p>
            <a:r>
              <a:rPr lang="en-IN" dirty="0"/>
              <a:t>if </a:t>
            </a:r>
            <a:r>
              <a:rPr lang="en-IN" dirty="0" err="1"/>
              <a:t>num</a:t>
            </a:r>
            <a:r>
              <a:rPr lang="en-IN" dirty="0"/>
              <a:t> &gt; 0:</a:t>
            </a:r>
          </a:p>
          <a:p>
            <a:r>
              <a:rPr lang="en-IN" dirty="0"/>
              <a:t>  if </a:t>
            </a:r>
            <a:r>
              <a:rPr lang="en-IN" dirty="0" err="1"/>
              <a:t>num</a:t>
            </a:r>
            <a:r>
              <a:rPr lang="en-IN" dirty="0"/>
              <a:t> % 2 == 0:</a:t>
            </a:r>
          </a:p>
          <a:p>
            <a:r>
              <a:rPr lang="en-IN" dirty="0"/>
              <a:t>    print("The number is positive and even.")</a:t>
            </a:r>
          </a:p>
          <a:p>
            <a:r>
              <a:rPr lang="en-IN" dirty="0"/>
              <a:t>  else:</a:t>
            </a:r>
          </a:p>
          <a:p>
            <a:r>
              <a:rPr lang="en-IN" dirty="0"/>
              <a:t>    print("The number is positive but odd.")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print("The number is not positive.")</a:t>
            </a:r>
          </a:p>
        </p:txBody>
      </p:sp>
      <p:pic>
        <p:nvPicPr>
          <p:cNvPr id="3074" name="Picture 2" descr="Python Nested If Else - Tutlane">
            <a:extLst>
              <a:ext uri="{FF2B5EF4-FFF2-40B4-BE49-F238E27FC236}">
                <a16:creationId xmlns:a16="http://schemas.microsoft.com/office/drawing/2014/main" id="{886320DF-E8F9-D77C-860A-44BBA31EA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76" y="778535"/>
            <a:ext cx="2118064" cy="417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294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6BE924-F22E-2DB2-DD0E-87CFBD4F4822}"/>
              </a:ext>
            </a:extLst>
          </p:cNvPr>
          <p:cNvSpPr txBox="1"/>
          <p:nvPr/>
        </p:nvSpPr>
        <p:spPr>
          <a:xfrm>
            <a:off x="3047246" y="52150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4. Python if-</a:t>
            </a:r>
            <a:r>
              <a:rPr lang="en-IN" b="0" i="0" dirty="0" err="1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elif</a:t>
            </a:r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-else Ladder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96E59-9FCE-D1AB-9635-590470B96FF5}"/>
              </a:ext>
            </a:extLst>
          </p:cNvPr>
          <p:cNvSpPr txBox="1"/>
          <p:nvPr/>
        </p:nvSpPr>
        <p:spPr>
          <a:xfrm>
            <a:off x="3047246" y="4254415"/>
            <a:ext cx="60975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x = 11</a:t>
            </a:r>
          </a:p>
          <a:p>
            <a:r>
              <a:rPr lang="en-IN" dirty="0"/>
              <a:t>if x == 2:</a:t>
            </a:r>
          </a:p>
          <a:p>
            <a:r>
              <a:rPr lang="en-IN" dirty="0"/>
              <a:t> print("x is equal to 2")</a:t>
            </a:r>
          </a:p>
          <a:p>
            <a:r>
              <a:rPr lang="en-IN" dirty="0" err="1"/>
              <a:t>elif</a:t>
            </a:r>
            <a:r>
              <a:rPr lang="en-IN" dirty="0"/>
              <a:t> x == 3:</a:t>
            </a:r>
          </a:p>
          <a:p>
            <a:r>
              <a:rPr lang="en-IN" dirty="0"/>
              <a:t> print("x is equal to 3")</a:t>
            </a:r>
          </a:p>
          <a:p>
            <a:r>
              <a:rPr lang="en-IN" dirty="0" err="1"/>
              <a:t>elif</a:t>
            </a:r>
            <a:r>
              <a:rPr lang="en-IN" dirty="0"/>
              <a:t> x == 4:</a:t>
            </a:r>
          </a:p>
          <a:p>
            <a:r>
              <a:rPr lang="en-IN" dirty="0"/>
              <a:t> print("x is equal to 4")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print("x is not equal to 2, 3, or 4")</a:t>
            </a:r>
          </a:p>
          <a:p>
            <a:endParaRPr lang="en-IN" dirty="0"/>
          </a:p>
        </p:txBody>
      </p:sp>
      <p:pic>
        <p:nvPicPr>
          <p:cNvPr id="4098" name="Picture 2" descr="Python If Else Statements - Conditional ...">
            <a:extLst>
              <a:ext uri="{FF2B5EF4-FFF2-40B4-BE49-F238E27FC236}">
                <a16:creationId xmlns:a16="http://schemas.microsoft.com/office/drawing/2014/main" id="{9C18FE6B-511F-A052-D246-F276A30E5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373" y="1291076"/>
            <a:ext cx="4172218" cy="308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211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5A9FB0-0F33-0718-312D-47B5C0109ADE}"/>
              </a:ext>
            </a:extLst>
          </p:cNvPr>
          <p:cNvSpPr txBox="1"/>
          <p:nvPr/>
        </p:nvSpPr>
        <p:spPr>
          <a:xfrm>
            <a:off x="3047246" y="101039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Short Hand if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5A0B5-D856-17FC-B58D-966B249714FE}"/>
              </a:ext>
            </a:extLst>
          </p:cNvPr>
          <p:cNvSpPr txBox="1"/>
          <p:nvPr/>
        </p:nvSpPr>
        <p:spPr>
          <a:xfrm>
            <a:off x="3047246" y="1689462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i</a:t>
            </a:r>
            <a:r>
              <a:rPr lang="en-IN" dirty="0"/>
              <a:t> = 21</a:t>
            </a:r>
          </a:p>
          <a:p>
            <a:r>
              <a:rPr lang="en-IN" dirty="0"/>
              <a:t>if </a:t>
            </a:r>
            <a:r>
              <a:rPr lang="en-IN" dirty="0" err="1"/>
              <a:t>i</a:t>
            </a:r>
            <a:r>
              <a:rPr lang="en-IN" dirty="0"/>
              <a:t> &gt; 15: print("</a:t>
            </a:r>
            <a:r>
              <a:rPr lang="en-IN" dirty="0" err="1"/>
              <a:t>i</a:t>
            </a:r>
            <a:r>
              <a:rPr lang="en-IN" dirty="0"/>
              <a:t> is greater than 15")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42D7F5-EEC4-3254-F5D7-41B90D82F59E}"/>
              </a:ext>
            </a:extLst>
          </p:cNvPr>
          <p:cNvSpPr txBox="1"/>
          <p:nvPr/>
        </p:nvSpPr>
        <p:spPr>
          <a:xfrm>
            <a:off x="3047246" y="384412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Short Hand if-else 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0189B-A855-967B-2DC0-BA2B9A86799A}"/>
              </a:ext>
            </a:extLst>
          </p:cNvPr>
          <p:cNvSpPr txBox="1"/>
          <p:nvPr/>
        </p:nvSpPr>
        <p:spPr>
          <a:xfrm>
            <a:off x="3047245" y="4593826"/>
            <a:ext cx="65494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  <a:p>
            <a:r>
              <a:rPr lang="en-IN" dirty="0"/>
              <a:t>age = 12</a:t>
            </a:r>
          </a:p>
          <a:p>
            <a:r>
              <a:rPr lang="en-IN" dirty="0"/>
              <a:t>message = "You can vote" if age &gt;= 18 else "You cannot vote yet"</a:t>
            </a:r>
          </a:p>
          <a:p>
            <a:r>
              <a:rPr lang="en-IN" dirty="0"/>
              <a:t>print(message)</a:t>
            </a:r>
          </a:p>
        </p:txBody>
      </p:sp>
    </p:spTree>
    <p:extLst>
      <p:ext uri="{BB962C8B-B14F-4D97-AF65-F5344CB8AC3E}">
        <p14:creationId xmlns:p14="http://schemas.microsoft.com/office/powerpoint/2010/main" val="19784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BE6839-D81F-B019-CFA3-E0AF534E07F8}"/>
              </a:ext>
            </a:extLst>
          </p:cNvPr>
          <p:cNvSpPr txBox="1"/>
          <p:nvPr/>
        </p:nvSpPr>
        <p:spPr>
          <a:xfrm>
            <a:off x="3047246" y="62109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Different Types of Loops in 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7453F-03B7-9403-FCA6-B43206AAD6BA}"/>
              </a:ext>
            </a:extLst>
          </p:cNvPr>
          <p:cNvSpPr txBox="1"/>
          <p:nvPr/>
        </p:nvSpPr>
        <p:spPr>
          <a:xfrm>
            <a:off x="4922445" y="1312814"/>
            <a:ext cx="23471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2214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Python while loop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2214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Python for loop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2214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Python nested 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5403F-2CC4-C56C-26AD-719B313CD11D}"/>
              </a:ext>
            </a:extLst>
          </p:cNvPr>
          <p:cNvSpPr txBox="1"/>
          <p:nvPr/>
        </p:nvSpPr>
        <p:spPr>
          <a:xfrm>
            <a:off x="3990315" y="290216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1. </a:t>
            </a:r>
            <a:r>
              <a:rPr lang="en-IN" b="0" i="0" u="none" strike="noStrike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hlinkClick r:id="rId2"/>
              </a:rPr>
              <a:t>Python while loop</a:t>
            </a:r>
            <a:endParaRPr lang="en-IN" b="0" i="0" dirty="0">
              <a:solidFill>
                <a:srgbClr val="05B5B3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sp>
        <p:nvSpPr>
          <p:cNvPr id="10" name="AutoShape 2" descr="Python while loop">
            <a:extLst>
              <a:ext uri="{FF2B5EF4-FFF2-40B4-BE49-F238E27FC236}">
                <a16:creationId xmlns:a16="http://schemas.microsoft.com/office/drawing/2014/main" id="{DF2CCE14-FA50-469D-EBA1-79AF2F0F40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443C1F-38F8-6163-D7E6-165E2AF6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315" y="3609092"/>
            <a:ext cx="3042234" cy="29246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B4E268-8BF3-5EC6-785A-82074B91DFA9}"/>
              </a:ext>
            </a:extLst>
          </p:cNvPr>
          <p:cNvSpPr txBox="1"/>
          <p:nvPr/>
        </p:nvSpPr>
        <p:spPr>
          <a:xfrm>
            <a:off x="7403095" y="4806522"/>
            <a:ext cx="30422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count = 0</a:t>
            </a:r>
          </a:p>
          <a:p>
            <a:r>
              <a:rPr lang="en-IN" dirty="0"/>
              <a:t>while (count &lt; 10):</a:t>
            </a:r>
          </a:p>
          <a:p>
            <a:r>
              <a:rPr lang="en-IN" dirty="0"/>
              <a:t>   print ('The count is:', count)</a:t>
            </a:r>
          </a:p>
          <a:p>
            <a:r>
              <a:rPr lang="en-IN" dirty="0"/>
              <a:t>   count = count + 1</a:t>
            </a:r>
          </a:p>
          <a:p>
            <a:r>
              <a:rPr lang="en-IN" dirty="0"/>
              <a:t>print ("Good bye!")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7446BA-C735-8F9C-6C7E-F133C8DD4472}"/>
              </a:ext>
            </a:extLst>
          </p:cNvPr>
          <p:cNvSpPr txBox="1"/>
          <p:nvPr/>
        </p:nvSpPr>
        <p:spPr>
          <a:xfrm>
            <a:off x="9914299" y="6648780"/>
            <a:ext cx="22777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" dirty="0">
                <a:hlinkClick r:id="rId2"/>
              </a:rPr>
              <a:t>https://www.scholarhat.com/tutorial/python/python-while-loop</a:t>
            </a:r>
            <a:endParaRPr lang="en-IN" sz="600" dirty="0"/>
          </a:p>
          <a:p>
            <a:endParaRPr lang="en-IN" sz="600" dirty="0"/>
          </a:p>
        </p:txBody>
      </p:sp>
    </p:spTree>
    <p:extLst>
      <p:ext uri="{BB962C8B-B14F-4D97-AF65-F5344CB8AC3E}">
        <p14:creationId xmlns:p14="http://schemas.microsoft.com/office/powerpoint/2010/main" val="3355723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12B782-8269-B040-711A-88772F91659D}"/>
              </a:ext>
            </a:extLst>
          </p:cNvPr>
          <p:cNvSpPr txBox="1"/>
          <p:nvPr/>
        </p:nvSpPr>
        <p:spPr>
          <a:xfrm>
            <a:off x="3047246" y="72973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2. </a:t>
            </a:r>
            <a:r>
              <a:rPr lang="en-IN" b="0" i="0" u="none" strike="noStrike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hlinkClick r:id="rId2"/>
              </a:rPr>
              <a:t>Python for loop</a:t>
            </a:r>
            <a:endParaRPr lang="en-IN" b="0" i="0" dirty="0">
              <a:solidFill>
                <a:srgbClr val="05B5B3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122D9-D9B6-61AF-64C2-5128630EC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88" y="1728881"/>
            <a:ext cx="4057650" cy="3762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F022C5-BC01-C4E9-C5A0-A884557DEAD6}"/>
              </a:ext>
            </a:extLst>
          </p:cNvPr>
          <p:cNvSpPr txBox="1"/>
          <p:nvPr/>
        </p:nvSpPr>
        <p:spPr>
          <a:xfrm>
            <a:off x="6096000" y="1728881"/>
            <a:ext cx="60975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# First Example</a:t>
            </a:r>
          </a:p>
          <a:p>
            <a:r>
              <a:rPr lang="en-IN" dirty="0"/>
              <a:t>for letter in 'Python': </a:t>
            </a:r>
          </a:p>
          <a:p>
            <a:r>
              <a:rPr lang="en-IN" dirty="0"/>
              <a:t>   print ('Current Letter :', letter)</a:t>
            </a:r>
          </a:p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Second Example</a:t>
            </a:r>
          </a:p>
          <a:p>
            <a:r>
              <a:rPr lang="en-IN" dirty="0"/>
              <a:t>fruits = ['guava', 'apple', '</a:t>
            </a:r>
            <a:r>
              <a:rPr lang="en-IN" dirty="0" err="1"/>
              <a:t>mango’,’banana</a:t>
            </a:r>
            <a:r>
              <a:rPr lang="en-IN" dirty="0"/>
              <a:t>’]</a:t>
            </a:r>
          </a:p>
          <a:p>
            <a:r>
              <a:rPr lang="en-IN" dirty="0"/>
              <a:t>for fruit in fruits: </a:t>
            </a:r>
          </a:p>
          <a:p>
            <a:r>
              <a:rPr lang="en-IN" dirty="0"/>
              <a:t>   print ('Current fruit :', fruit)</a:t>
            </a:r>
          </a:p>
          <a:p>
            <a:endParaRPr lang="en-IN" dirty="0"/>
          </a:p>
          <a:p>
            <a:r>
              <a:rPr lang="en-IN" dirty="0"/>
              <a:t>print ("Good bye!")</a:t>
            </a:r>
          </a:p>
          <a:p>
            <a:endParaRPr lang="en-IN" dirty="0"/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range(1,3):</a:t>
            </a:r>
          </a:p>
          <a:p>
            <a:r>
              <a:rPr lang="en-IN" dirty="0"/>
              <a:t>    print("</a:t>
            </a:r>
            <a:r>
              <a:rPr lang="en-IN" dirty="0" err="1"/>
              <a:t>fruits",fruits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])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2043D3-B374-7D1D-C087-36ECC7D7BA7E}"/>
              </a:ext>
            </a:extLst>
          </p:cNvPr>
          <p:cNvSpPr txBox="1"/>
          <p:nvPr/>
        </p:nvSpPr>
        <p:spPr>
          <a:xfrm>
            <a:off x="9445027" y="6652273"/>
            <a:ext cx="26322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>
                <a:hlinkClick r:id="rId4"/>
              </a:rPr>
              <a:t>https://www.scholarhat.com/tutorial/python/python-while-loop</a:t>
            </a:r>
            <a:endParaRPr lang="en-IN" sz="700" dirty="0"/>
          </a:p>
          <a:p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30428016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BE4E48-EE9B-997F-6047-42E187661FF5}"/>
              </a:ext>
            </a:extLst>
          </p:cNvPr>
          <p:cNvSpPr txBox="1"/>
          <p:nvPr/>
        </p:nvSpPr>
        <p:spPr>
          <a:xfrm>
            <a:off x="3047246" y="62109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3. Python Nested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5FF3C-940A-B8A2-4BB7-5A10F8035964}"/>
              </a:ext>
            </a:extLst>
          </p:cNvPr>
          <p:cNvSpPr txBox="1"/>
          <p:nvPr/>
        </p:nvSpPr>
        <p:spPr>
          <a:xfrm>
            <a:off x="3048755" y="2138602"/>
            <a:ext cx="60975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i</a:t>
            </a:r>
            <a:r>
              <a:rPr lang="en-IN" dirty="0"/>
              <a:t> = 2</a:t>
            </a:r>
          </a:p>
          <a:p>
            <a:r>
              <a:rPr lang="en-IN" dirty="0"/>
              <a:t>while(</a:t>
            </a:r>
            <a:r>
              <a:rPr lang="en-IN" dirty="0" err="1"/>
              <a:t>i</a:t>
            </a:r>
            <a:r>
              <a:rPr lang="en-IN" dirty="0"/>
              <a:t> &lt; 100):</a:t>
            </a:r>
          </a:p>
          <a:p>
            <a:r>
              <a:rPr lang="en-IN" dirty="0"/>
              <a:t> j = 2</a:t>
            </a:r>
          </a:p>
          <a:p>
            <a:r>
              <a:rPr lang="en-IN" dirty="0"/>
              <a:t> while(j &lt;= (</a:t>
            </a:r>
            <a:r>
              <a:rPr lang="en-IN" dirty="0" err="1"/>
              <a:t>i</a:t>
            </a:r>
            <a:r>
              <a:rPr lang="en-IN" dirty="0"/>
              <a:t>/j)):</a:t>
            </a:r>
          </a:p>
          <a:p>
            <a:r>
              <a:rPr lang="en-IN" dirty="0"/>
              <a:t>   if not(</a:t>
            </a:r>
            <a:r>
              <a:rPr lang="en-IN" dirty="0" err="1"/>
              <a:t>i%j</a:t>
            </a:r>
            <a:r>
              <a:rPr lang="en-IN" dirty="0"/>
              <a:t>): break</a:t>
            </a:r>
          </a:p>
          <a:p>
            <a:r>
              <a:rPr lang="en-IN" dirty="0"/>
              <a:t>   j = j + 1</a:t>
            </a:r>
          </a:p>
          <a:p>
            <a:r>
              <a:rPr lang="en-IN" dirty="0"/>
              <a:t> if (j &gt; </a:t>
            </a:r>
            <a:r>
              <a:rPr lang="en-IN" dirty="0" err="1"/>
              <a:t>i</a:t>
            </a:r>
            <a:r>
              <a:rPr lang="en-IN" dirty="0"/>
              <a:t>/j) : print (</a:t>
            </a:r>
            <a:r>
              <a:rPr lang="en-IN" dirty="0" err="1"/>
              <a:t>i</a:t>
            </a:r>
            <a:r>
              <a:rPr lang="en-IN" dirty="0"/>
              <a:t>, " is prime")</a:t>
            </a:r>
          </a:p>
          <a:p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 = </a:t>
            </a:r>
            <a:r>
              <a:rPr lang="en-IN" dirty="0" err="1"/>
              <a:t>i</a:t>
            </a:r>
            <a:r>
              <a:rPr lang="en-IN" dirty="0"/>
              <a:t> + 1</a:t>
            </a:r>
          </a:p>
          <a:p>
            <a:r>
              <a:rPr lang="en-IN" dirty="0"/>
              <a:t>print ("Good bye!")</a:t>
            </a:r>
          </a:p>
        </p:txBody>
      </p:sp>
    </p:spTree>
    <p:extLst>
      <p:ext uri="{BB962C8B-B14F-4D97-AF65-F5344CB8AC3E}">
        <p14:creationId xmlns:p14="http://schemas.microsoft.com/office/powerpoint/2010/main" val="40725406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FB95E-FA8B-D68C-050B-9A76249CE71D}"/>
              </a:ext>
            </a:extLst>
          </p:cNvPr>
          <p:cNvSpPr txBox="1"/>
          <p:nvPr/>
        </p:nvSpPr>
        <p:spPr>
          <a:xfrm>
            <a:off x="2860329" y="140130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Loop Control Statements 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FC4CE-0E42-95EA-CF66-A9AB11F23BD3}"/>
              </a:ext>
            </a:extLst>
          </p:cNvPr>
          <p:cNvSpPr txBox="1"/>
          <p:nvPr/>
        </p:nvSpPr>
        <p:spPr>
          <a:xfrm>
            <a:off x="5183675" y="2398237"/>
            <a:ext cx="14508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IN" b="0" i="0" dirty="0">
                <a:solidFill>
                  <a:srgbClr val="02214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Break</a:t>
            </a:r>
          </a:p>
          <a:p>
            <a:pPr algn="just">
              <a:buFont typeface="+mj-lt"/>
              <a:buAutoNum type="arabicPeriod"/>
            </a:pPr>
            <a:r>
              <a:rPr lang="en-IN" b="0" i="0" dirty="0">
                <a:solidFill>
                  <a:srgbClr val="02214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Continue</a:t>
            </a:r>
          </a:p>
          <a:p>
            <a:pPr algn="just">
              <a:buFont typeface="+mj-lt"/>
              <a:buAutoNum type="arabicPeriod"/>
            </a:pPr>
            <a:r>
              <a:rPr lang="en-IN" b="0" i="0" dirty="0">
                <a:solidFill>
                  <a:srgbClr val="02214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D46931-9826-3827-FE65-4D465D0AA1AD}"/>
              </a:ext>
            </a:extLst>
          </p:cNvPr>
          <p:cNvSpPr txBox="1"/>
          <p:nvPr/>
        </p:nvSpPr>
        <p:spPr>
          <a:xfrm>
            <a:off x="796328" y="4332083"/>
            <a:ext cx="1052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1. Break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52BB0-BAE5-3B93-81A6-DF5DF433B1CC}"/>
              </a:ext>
            </a:extLst>
          </p:cNvPr>
          <p:cNvSpPr txBox="1"/>
          <p:nvPr/>
        </p:nvSpPr>
        <p:spPr>
          <a:xfrm>
            <a:off x="796328" y="4516749"/>
            <a:ext cx="18310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range(10):</a:t>
            </a:r>
          </a:p>
          <a:p>
            <a:r>
              <a:rPr lang="en-IN" dirty="0"/>
              <a:t>  if </a:t>
            </a:r>
            <a:r>
              <a:rPr lang="en-IN" dirty="0" err="1"/>
              <a:t>i</a:t>
            </a:r>
            <a:r>
              <a:rPr lang="en-IN" dirty="0"/>
              <a:t> == 5:</a:t>
            </a:r>
          </a:p>
          <a:p>
            <a:r>
              <a:rPr lang="en-IN" dirty="0"/>
              <a:t>    break</a:t>
            </a:r>
          </a:p>
          <a:p>
            <a:r>
              <a:rPr lang="en-IN" dirty="0"/>
              <a:t>  print(</a:t>
            </a:r>
            <a:r>
              <a:rPr lang="en-IN" dirty="0" err="1"/>
              <a:t>i</a:t>
            </a:r>
            <a:r>
              <a:rPr lang="en-IN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1B9FC3-9D9F-4522-F7A3-F15DDF8DAD8A}"/>
              </a:ext>
            </a:extLst>
          </p:cNvPr>
          <p:cNvSpPr txBox="1"/>
          <p:nvPr/>
        </p:nvSpPr>
        <p:spPr>
          <a:xfrm>
            <a:off x="5183675" y="4318503"/>
            <a:ext cx="161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2. Continue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3445A3-BFAD-5692-E002-9B1F0A034586}"/>
              </a:ext>
            </a:extLst>
          </p:cNvPr>
          <p:cNvSpPr txBox="1"/>
          <p:nvPr/>
        </p:nvSpPr>
        <p:spPr>
          <a:xfrm>
            <a:off x="5183675" y="4503169"/>
            <a:ext cx="19849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range(10):</a:t>
            </a:r>
          </a:p>
          <a:p>
            <a:r>
              <a:rPr lang="en-IN" dirty="0"/>
              <a:t>  if </a:t>
            </a:r>
            <a:r>
              <a:rPr lang="en-IN" dirty="0" err="1"/>
              <a:t>i</a:t>
            </a:r>
            <a:r>
              <a:rPr lang="en-IN" dirty="0"/>
              <a:t> % 2 == 0:</a:t>
            </a:r>
          </a:p>
          <a:p>
            <a:r>
              <a:rPr lang="en-IN" dirty="0"/>
              <a:t>    continue</a:t>
            </a:r>
          </a:p>
          <a:p>
            <a:r>
              <a:rPr lang="en-IN" dirty="0"/>
              <a:t>  print(</a:t>
            </a:r>
            <a:r>
              <a:rPr lang="en-IN" dirty="0" err="1"/>
              <a:t>i</a:t>
            </a:r>
            <a:r>
              <a:rPr lang="en-IN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44519E-923D-E3B5-3724-D0B6AD29E1EE}"/>
              </a:ext>
            </a:extLst>
          </p:cNvPr>
          <p:cNvSpPr txBox="1"/>
          <p:nvPr/>
        </p:nvSpPr>
        <p:spPr>
          <a:xfrm>
            <a:off x="9459741" y="4318503"/>
            <a:ext cx="990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3. Pass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8FF9C2-3348-2791-B094-4D6C4BF61612}"/>
              </a:ext>
            </a:extLst>
          </p:cNvPr>
          <p:cNvSpPr txBox="1"/>
          <p:nvPr/>
        </p:nvSpPr>
        <p:spPr>
          <a:xfrm>
            <a:off x="9431070" y="4793748"/>
            <a:ext cx="20392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range(10):</a:t>
            </a:r>
          </a:p>
          <a:p>
            <a:r>
              <a:rPr lang="en-IN" dirty="0"/>
              <a:t>  # Do nothing</a:t>
            </a:r>
          </a:p>
          <a:p>
            <a:r>
              <a:rPr lang="en-IN" dirty="0"/>
              <a:t>  pass</a:t>
            </a:r>
          </a:p>
        </p:txBody>
      </p:sp>
    </p:spTree>
    <p:extLst>
      <p:ext uri="{BB962C8B-B14F-4D97-AF65-F5344CB8AC3E}">
        <p14:creationId xmlns:p14="http://schemas.microsoft.com/office/powerpoint/2010/main" val="24065636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B73399-FE87-BD56-7A9F-DFA097DFA721}"/>
              </a:ext>
            </a:extLst>
          </p:cNvPr>
          <p:cNvSpPr txBox="1"/>
          <p:nvPr/>
        </p:nvSpPr>
        <p:spPr>
          <a:xfrm>
            <a:off x="3047246" y="52150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IN" b="1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Source Sans 3"/>
              </a:rPr>
              <a:t>Python Match Case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8A461-8BE3-B45B-5821-81D8CCF84F0A}"/>
              </a:ext>
            </a:extLst>
          </p:cNvPr>
          <p:cNvSpPr txBox="1"/>
          <p:nvPr/>
        </p:nvSpPr>
        <p:spPr>
          <a:xfrm>
            <a:off x="3130236" y="1022514"/>
            <a:ext cx="60975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# simple match case statement</a:t>
            </a:r>
          </a:p>
          <a:p>
            <a:r>
              <a:rPr lang="en-IN" dirty="0"/>
              <a:t>def </a:t>
            </a:r>
            <a:r>
              <a:rPr lang="en-IN" dirty="0" err="1"/>
              <a:t>runMatch</a:t>
            </a:r>
            <a:r>
              <a:rPr lang="en-IN" dirty="0"/>
              <a:t>():</a:t>
            </a:r>
          </a:p>
          <a:p>
            <a:r>
              <a:rPr lang="en-IN" dirty="0"/>
              <a:t>    </a:t>
            </a:r>
            <a:r>
              <a:rPr lang="en-IN" dirty="0" err="1"/>
              <a:t>num</a:t>
            </a:r>
            <a:r>
              <a:rPr lang="en-IN" dirty="0"/>
              <a:t> = int(input("Enter a number between 1 and 3: "))</a:t>
            </a:r>
          </a:p>
          <a:p>
            <a:r>
              <a:rPr lang="en-IN" dirty="0"/>
              <a:t>    </a:t>
            </a:r>
            <a:r>
              <a:rPr lang="en-IN" dirty="0" err="1"/>
              <a:t>num</a:t>
            </a:r>
            <a:r>
              <a:rPr lang="en-IN" dirty="0"/>
              <a:t>=1</a:t>
            </a:r>
          </a:p>
          <a:p>
            <a:r>
              <a:rPr lang="en-IN" dirty="0">
                <a:solidFill>
                  <a:srgbClr val="00B050"/>
                </a:solidFill>
              </a:rPr>
              <a:t>    # match case</a:t>
            </a:r>
          </a:p>
          <a:p>
            <a:r>
              <a:rPr lang="en-IN" dirty="0"/>
              <a:t>    match </a:t>
            </a:r>
            <a:r>
              <a:rPr lang="en-IN" dirty="0" err="1"/>
              <a:t>num</a:t>
            </a:r>
            <a:r>
              <a:rPr lang="en-IN" dirty="0"/>
              <a:t>:</a:t>
            </a:r>
          </a:p>
          <a:p>
            <a:r>
              <a:rPr lang="en-IN" dirty="0">
                <a:solidFill>
                  <a:srgbClr val="00B050"/>
                </a:solidFill>
              </a:rPr>
              <a:t>        # pattern 1</a:t>
            </a:r>
          </a:p>
          <a:p>
            <a:r>
              <a:rPr lang="en-IN" dirty="0"/>
              <a:t>        case 1:</a:t>
            </a:r>
          </a:p>
          <a:p>
            <a:r>
              <a:rPr lang="en-IN" dirty="0"/>
              <a:t>            print("One")</a:t>
            </a:r>
          </a:p>
          <a:p>
            <a:r>
              <a:rPr lang="en-IN" dirty="0">
                <a:solidFill>
                  <a:srgbClr val="00B050"/>
                </a:solidFill>
              </a:rPr>
              <a:t># pattern 2</a:t>
            </a:r>
          </a:p>
          <a:p>
            <a:r>
              <a:rPr lang="en-IN" dirty="0"/>
              <a:t>        case 2:</a:t>
            </a:r>
          </a:p>
          <a:p>
            <a:r>
              <a:rPr lang="en-IN" dirty="0"/>
              <a:t>            print("Two")</a:t>
            </a:r>
          </a:p>
          <a:p>
            <a:r>
              <a:rPr lang="en-IN" dirty="0"/>
              <a:t>        </a:t>
            </a:r>
            <a:r>
              <a:rPr lang="en-IN" dirty="0">
                <a:solidFill>
                  <a:srgbClr val="00B050"/>
                </a:solidFill>
              </a:rPr>
              <a:t># pattern 3</a:t>
            </a:r>
          </a:p>
          <a:p>
            <a:r>
              <a:rPr lang="en-IN" dirty="0"/>
              <a:t>        case 3:</a:t>
            </a:r>
          </a:p>
          <a:p>
            <a:r>
              <a:rPr lang="en-IN" dirty="0"/>
              <a:t>            print("Three")</a:t>
            </a:r>
          </a:p>
          <a:p>
            <a:r>
              <a:rPr lang="en-IN" dirty="0"/>
              <a:t>        </a:t>
            </a:r>
            <a:r>
              <a:rPr lang="en-IN" dirty="0">
                <a:solidFill>
                  <a:srgbClr val="00B050"/>
                </a:solidFill>
              </a:rPr>
              <a:t># default pattern</a:t>
            </a:r>
          </a:p>
          <a:p>
            <a:r>
              <a:rPr lang="en-IN" dirty="0"/>
              <a:t>        case _:</a:t>
            </a:r>
          </a:p>
          <a:p>
            <a:r>
              <a:rPr lang="en-IN" dirty="0"/>
              <a:t>            print("Number not between 1 and 3")</a:t>
            </a:r>
          </a:p>
          <a:p>
            <a:r>
              <a:rPr lang="en-IN" dirty="0"/>
              <a:t>            </a:t>
            </a:r>
          </a:p>
          <a:p>
            <a:r>
              <a:rPr lang="en-IN" dirty="0" err="1"/>
              <a:t>runMatch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475142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547D3C-D28C-713C-89C8-89A6FA9D158D}"/>
              </a:ext>
            </a:extLst>
          </p:cNvPr>
          <p:cNvSpPr txBox="1"/>
          <p:nvPr/>
        </p:nvSpPr>
        <p:spPr>
          <a:xfrm>
            <a:off x="622426" y="102849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1.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C0C12-20EF-17AA-95C7-A9AD30ED8D8D}"/>
              </a:ext>
            </a:extLst>
          </p:cNvPr>
          <p:cNvSpPr txBox="1"/>
          <p:nvPr/>
        </p:nvSpPr>
        <p:spPr>
          <a:xfrm>
            <a:off x="3047246" y="14872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List, Tuple, String, and Dictionary Iteration Using for Loops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126039-FC95-4AE9-3ECA-3E010EC657E5}"/>
              </a:ext>
            </a:extLst>
          </p:cNvPr>
          <p:cNvSpPr txBox="1"/>
          <p:nvPr/>
        </p:nvSpPr>
        <p:spPr>
          <a:xfrm>
            <a:off x="622426" y="1397830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3, 4, 5]</a:t>
            </a:r>
          </a:p>
          <a:p>
            <a:endParaRPr lang="en-IN" dirty="0"/>
          </a:p>
          <a:p>
            <a:r>
              <a:rPr lang="en-IN" dirty="0"/>
              <a:t>for item in </a:t>
            </a:r>
            <a:r>
              <a:rPr lang="en-IN" dirty="0" err="1"/>
              <a:t>my_list</a:t>
            </a:r>
            <a:r>
              <a:rPr lang="en-IN" dirty="0"/>
              <a:t>:</a:t>
            </a:r>
          </a:p>
          <a:p>
            <a:r>
              <a:rPr lang="en-IN" dirty="0"/>
              <a:t>    print(item)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0729E-4FA3-5D16-ED9F-09DC2C098D72}"/>
              </a:ext>
            </a:extLst>
          </p:cNvPr>
          <p:cNvSpPr txBox="1"/>
          <p:nvPr/>
        </p:nvSpPr>
        <p:spPr>
          <a:xfrm>
            <a:off x="622426" y="305966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2. Tuples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8D2BF-CD84-50CF-30FA-FE4C9F53F5ED}"/>
              </a:ext>
            </a:extLst>
          </p:cNvPr>
          <p:cNvSpPr txBox="1"/>
          <p:nvPr/>
        </p:nvSpPr>
        <p:spPr>
          <a:xfrm>
            <a:off x="622426" y="3429000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my_tuple</a:t>
            </a:r>
            <a:r>
              <a:rPr lang="en-IN" dirty="0"/>
              <a:t> = (10, 20, 30, 40, 50)</a:t>
            </a:r>
          </a:p>
          <a:p>
            <a:endParaRPr lang="en-IN" dirty="0"/>
          </a:p>
          <a:p>
            <a:r>
              <a:rPr lang="en-IN" dirty="0"/>
              <a:t>for item in </a:t>
            </a:r>
            <a:r>
              <a:rPr lang="en-IN" dirty="0" err="1"/>
              <a:t>my_tuple</a:t>
            </a:r>
            <a:r>
              <a:rPr lang="en-IN" dirty="0"/>
              <a:t>:</a:t>
            </a:r>
          </a:p>
          <a:p>
            <a:r>
              <a:rPr lang="en-IN" dirty="0"/>
              <a:t>    print(item)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E78495-8ACC-CFA1-EFF0-A00B46B73D27}"/>
              </a:ext>
            </a:extLst>
          </p:cNvPr>
          <p:cNvSpPr txBox="1"/>
          <p:nvPr/>
        </p:nvSpPr>
        <p:spPr>
          <a:xfrm>
            <a:off x="622426" y="509083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3. Strings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30D3DF-823F-3E87-EC8B-54A202D78DEA}"/>
              </a:ext>
            </a:extLst>
          </p:cNvPr>
          <p:cNvSpPr txBox="1"/>
          <p:nvPr/>
        </p:nvSpPr>
        <p:spPr>
          <a:xfrm>
            <a:off x="622426" y="5583353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my_string</a:t>
            </a:r>
            <a:r>
              <a:rPr lang="en-IN" dirty="0"/>
              <a:t> = "hello"</a:t>
            </a:r>
          </a:p>
          <a:p>
            <a:endParaRPr lang="en-IN" dirty="0"/>
          </a:p>
          <a:p>
            <a:r>
              <a:rPr lang="en-IN" dirty="0"/>
              <a:t>for char in </a:t>
            </a:r>
            <a:r>
              <a:rPr lang="en-IN" dirty="0" err="1"/>
              <a:t>my_string</a:t>
            </a:r>
            <a:r>
              <a:rPr lang="en-IN" dirty="0"/>
              <a:t>:</a:t>
            </a:r>
          </a:p>
          <a:p>
            <a:r>
              <a:rPr lang="en-IN" dirty="0"/>
              <a:t>    print(char)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23E2BE-7F4A-94A3-1476-8EDBA8489BC1}"/>
              </a:ext>
            </a:extLst>
          </p:cNvPr>
          <p:cNvSpPr txBox="1"/>
          <p:nvPr/>
        </p:nvSpPr>
        <p:spPr>
          <a:xfrm>
            <a:off x="6253682" y="107458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4. Dictionaries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D8F386-5EFD-F9AE-A764-0881039D8794}"/>
              </a:ext>
            </a:extLst>
          </p:cNvPr>
          <p:cNvSpPr txBox="1"/>
          <p:nvPr/>
        </p:nvSpPr>
        <p:spPr>
          <a:xfrm>
            <a:off x="6253682" y="2834130"/>
            <a:ext cx="6174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my_dict</a:t>
            </a:r>
            <a:r>
              <a:rPr lang="en-IN" dirty="0"/>
              <a:t> = {'a': 1, 'b': 2, 'c': 3}</a:t>
            </a:r>
          </a:p>
          <a:p>
            <a:endParaRPr lang="en-IN" dirty="0"/>
          </a:p>
          <a:p>
            <a:r>
              <a:rPr lang="en-IN" dirty="0"/>
              <a:t>for key in </a:t>
            </a:r>
            <a:r>
              <a:rPr lang="en-IN" dirty="0" err="1"/>
              <a:t>my_dict</a:t>
            </a:r>
            <a:r>
              <a:rPr lang="en-IN" dirty="0"/>
              <a:t>:</a:t>
            </a:r>
          </a:p>
          <a:p>
            <a:r>
              <a:rPr lang="en-IN" dirty="0"/>
              <a:t>    print(key)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1B117E57-F23F-72CB-26DF-00FEBEDB8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682" y="1482352"/>
            <a:ext cx="4032707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Keys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Iterate over the keys of the dictionary.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Values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Iterate over the values of the dictionary.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Items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Iterate over key-value pairs.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D3E907-38F4-24D3-CEF2-B2BC387AE4C2}"/>
              </a:ext>
            </a:extLst>
          </p:cNvPr>
          <p:cNvSpPr txBox="1"/>
          <p:nvPr/>
        </p:nvSpPr>
        <p:spPr>
          <a:xfrm>
            <a:off x="6256700" y="4259997"/>
            <a:ext cx="6215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value in </a:t>
            </a:r>
            <a:r>
              <a:rPr lang="en-IN" dirty="0" err="1"/>
              <a:t>my_dict.values</a:t>
            </a:r>
            <a:r>
              <a:rPr lang="en-IN" dirty="0"/>
              <a:t>():</a:t>
            </a:r>
          </a:p>
          <a:p>
            <a:r>
              <a:rPr lang="en-IN" dirty="0"/>
              <a:t>    print(value)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C40679-E54E-7287-1F1B-B60BBFC3746A}"/>
              </a:ext>
            </a:extLst>
          </p:cNvPr>
          <p:cNvSpPr txBox="1"/>
          <p:nvPr/>
        </p:nvSpPr>
        <p:spPr>
          <a:xfrm>
            <a:off x="6253682" y="5321514"/>
            <a:ext cx="623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key, value in </a:t>
            </a:r>
            <a:r>
              <a:rPr lang="en-IN" dirty="0" err="1"/>
              <a:t>my_dict.items</a:t>
            </a:r>
            <a:r>
              <a:rPr lang="en-IN" dirty="0"/>
              <a:t>():</a:t>
            </a:r>
          </a:p>
          <a:p>
            <a:r>
              <a:rPr lang="en-IN" dirty="0"/>
              <a:t>    print(</a:t>
            </a:r>
            <a:r>
              <a:rPr lang="en-IN" dirty="0" err="1"/>
              <a:t>f"Key</a:t>
            </a:r>
            <a:r>
              <a:rPr lang="en-IN" dirty="0"/>
              <a:t>: {key}, Value: {value}")</a:t>
            </a:r>
          </a:p>
        </p:txBody>
      </p:sp>
    </p:spTree>
    <p:extLst>
      <p:ext uri="{BB962C8B-B14F-4D97-AF65-F5344CB8AC3E}">
        <p14:creationId xmlns:p14="http://schemas.microsoft.com/office/powerpoint/2010/main" val="11759011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ypes of Data Structures in Python">
            <a:extLst>
              <a:ext uri="{FF2B5EF4-FFF2-40B4-BE49-F238E27FC236}">
                <a16:creationId xmlns:a16="http://schemas.microsoft.com/office/drawing/2014/main" id="{8A4C8C69-0609-B151-66CD-6B61BC594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838" y="0"/>
            <a:ext cx="84407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24913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594DF4-642E-6C80-7CB5-430A158AE747}"/>
              </a:ext>
            </a:extLst>
          </p:cNvPr>
          <p:cNvSpPr txBox="1"/>
          <p:nvPr/>
        </p:nvSpPr>
        <p:spPr>
          <a:xfrm>
            <a:off x="3628177" y="29247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2196F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Built-In Data Structures 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C589A-5B5D-D82C-6C21-5EFF0DE0FBC5}"/>
              </a:ext>
            </a:extLst>
          </p:cNvPr>
          <p:cNvSpPr txBox="1"/>
          <p:nvPr/>
        </p:nvSpPr>
        <p:spPr>
          <a:xfrm>
            <a:off x="3047246" y="124578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1. Python Lists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9F9A3-4F6C-92C2-7CD9-E7818BCC6434}"/>
              </a:ext>
            </a:extLst>
          </p:cNvPr>
          <p:cNvSpPr txBox="1"/>
          <p:nvPr/>
        </p:nvSpPr>
        <p:spPr>
          <a:xfrm>
            <a:off x="486624" y="2681220"/>
            <a:ext cx="60975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Initializing a List</a:t>
            </a:r>
          </a:p>
          <a:p>
            <a:r>
              <a:rPr lang="en-IN" dirty="0" err="1"/>
              <a:t>myList</a:t>
            </a:r>
            <a:r>
              <a:rPr lang="en-IN" dirty="0"/>
              <a:t> = ["</a:t>
            </a:r>
            <a:r>
              <a:rPr lang="en-IN" dirty="0" err="1"/>
              <a:t>ScholarHat</a:t>
            </a:r>
            <a:r>
              <a:rPr lang="en-IN" dirty="0"/>
              <a:t>", "Shailendra </a:t>
            </a:r>
            <a:r>
              <a:rPr lang="en-IN" dirty="0" err="1"/>
              <a:t>Chuauhan</a:t>
            </a:r>
            <a:r>
              <a:rPr lang="en-IN" dirty="0"/>
              <a:t>", "Girdhar Singh"]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Display the list</a:t>
            </a:r>
          </a:p>
          <a:p>
            <a:r>
              <a:rPr lang="en-IN" dirty="0"/>
              <a:t>print("A diverse Python list: ")</a:t>
            </a:r>
          </a:p>
          <a:p>
            <a:r>
              <a:rPr lang="en-IN" dirty="0"/>
              <a:t>print(</a:t>
            </a:r>
            <a:r>
              <a:rPr lang="en-IN" dirty="0" err="1"/>
              <a:t>myList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Creating a Nested List</a:t>
            </a:r>
          </a:p>
          <a:p>
            <a:r>
              <a:rPr lang="en-IN" dirty="0" err="1"/>
              <a:t>nestedList</a:t>
            </a:r>
            <a:r>
              <a:rPr lang="en-IN" dirty="0"/>
              <a:t> = [["Sakshi", "Sourav"], ["Pradnya", "Pragati"]]</a:t>
            </a:r>
          </a:p>
          <a:p>
            <a:r>
              <a:rPr lang="en-IN" dirty="0"/>
              <a:t>print("\</a:t>
            </a:r>
            <a:r>
              <a:rPr lang="en-IN" dirty="0" err="1"/>
              <a:t>nNested</a:t>
            </a:r>
            <a:r>
              <a:rPr lang="en-IN" dirty="0"/>
              <a:t> List: ")</a:t>
            </a:r>
          </a:p>
          <a:p>
            <a:r>
              <a:rPr lang="en-IN" dirty="0"/>
              <a:t>print(</a:t>
            </a:r>
            <a:r>
              <a:rPr lang="en-IN" dirty="0" err="1"/>
              <a:t>nestedList</a:t>
            </a:r>
            <a:r>
              <a:rPr lang="en-IN" dirty="0"/>
              <a:t>)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861140-7D89-0789-BAD8-7A5A944293AB}"/>
              </a:ext>
            </a:extLst>
          </p:cNvPr>
          <p:cNvSpPr txBox="1"/>
          <p:nvPr/>
        </p:nvSpPr>
        <p:spPr>
          <a:xfrm>
            <a:off x="6385711" y="2691668"/>
            <a:ext cx="60975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Accessing elements from the list</a:t>
            </a:r>
          </a:p>
          <a:p>
            <a:r>
              <a:rPr lang="en-IN" dirty="0"/>
              <a:t>print("\</a:t>
            </a:r>
            <a:r>
              <a:rPr lang="en-IN" dirty="0" err="1"/>
              <a:t>nAccessing</a:t>
            </a:r>
            <a:r>
              <a:rPr lang="en-IN" dirty="0"/>
              <a:t> elements from the list:")</a:t>
            </a:r>
          </a:p>
          <a:p>
            <a:r>
              <a:rPr lang="en-IN" dirty="0"/>
              <a:t>print(</a:t>
            </a:r>
            <a:r>
              <a:rPr lang="en-IN" dirty="0" err="1"/>
              <a:t>nestedList</a:t>
            </a:r>
            <a:r>
              <a:rPr lang="en-IN" dirty="0"/>
              <a:t>[0][1])</a:t>
            </a:r>
          </a:p>
          <a:p>
            <a:r>
              <a:rPr lang="en-IN" dirty="0"/>
              <a:t>print(</a:t>
            </a:r>
            <a:r>
              <a:rPr lang="en-IN" dirty="0" err="1"/>
              <a:t>myList</a:t>
            </a:r>
            <a:r>
              <a:rPr lang="en-IN" dirty="0"/>
              <a:t>[2])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Accessing elements using negative indexing</a:t>
            </a:r>
          </a:p>
          <a:p>
            <a:r>
              <a:rPr lang="en-IN" dirty="0"/>
              <a:t>print("\</a:t>
            </a:r>
            <a:r>
              <a:rPr lang="en-IN" dirty="0" err="1"/>
              <a:t>nAccessing</a:t>
            </a:r>
            <a:r>
              <a:rPr lang="en-IN" dirty="0"/>
              <a:t> elements with negative indexing:")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Print the last element of the list</a:t>
            </a:r>
          </a:p>
          <a:p>
            <a:r>
              <a:rPr lang="en-IN" dirty="0"/>
              <a:t>print(</a:t>
            </a:r>
            <a:r>
              <a:rPr lang="en-IN" dirty="0" err="1"/>
              <a:t>myList</a:t>
            </a:r>
            <a:r>
              <a:rPr lang="en-IN" dirty="0"/>
              <a:t>[-1])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Print the second last element of the list</a:t>
            </a:r>
          </a:p>
          <a:p>
            <a:r>
              <a:rPr lang="en-IN" dirty="0"/>
              <a:t>print(</a:t>
            </a:r>
            <a:r>
              <a:rPr lang="en-IN" dirty="0" err="1"/>
              <a:t>myList</a:t>
            </a:r>
            <a:r>
              <a:rPr lang="en-IN" dirty="0"/>
              <a:t>[-2])</a:t>
            </a:r>
          </a:p>
        </p:txBody>
      </p:sp>
    </p:spTree>
    <p:extLst>
      <p:ext uri="{BB962C8B-B14F-4D97-AF65-F5344CB8AC3E}">
        <p14:creationId xmlns:p14="http://schemas.microsoft.com/office/powerpoint/2010/main" val="9946710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41E94A-651E-ACE0-7C65-62B1A53D1BB4}"/>
              </a:ext>
            </a:extLst>
          </p:cNvPr>
          <p:cNvSpPr txBox="1"/>
          <p:nvPr/>
        </p:nvSpPr>
        <p:spPr>
          <a:xfrm>
            <a:off x="115432" y="28611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1. </a:t>
            </a:r>
            <a:r>
              <a:rPr lang="en-IN" b="1" dirty="0">
                <a:solidFill>
                  <a:srgbClr val="FF0000"/>
                </a:solidFill>
              </a:rPr>
              <a:t>Add Elements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93E3E-5F99-DA86-C941-225176253708}"/>
              </a:ext>
            </a:extLst>
          </p:cNvPr>
          <p:cNvSpPr txBox="1"/>
          <p:nvPr/>
        </p:nvSpPr>
        <p:spPr>
          <a:xfrm>
            <a:off x="115432" y="655446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 err="1"/>
              <a:t>my_list.append</a:t>
            </a:r>
            <a:r>
              <a:rPr lang="en-IN" dirty="0"/>
              <a:t>(4)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2, 3, 4]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68CEF-7092-648A-5C5A-B0557867BD21}"/>
              </a:ext>
            </a:extLst>
          </p:cNvPr>
          <p:cNvSpPr txBox="1"/>
          <p:nvPr/>
        </p:nvSpPr>
        <p:spPr>
          <a:xfrm>
            <a:off x="115432" y="130177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 err="1"/>
              <a:t>my_list.extend</a:t>
            </a:r>
            <a:r>
              <a:rPr lang="en-IN" dirty="0"/>
              <a:t>([4, 5])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2, 3, 4, 5]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ED3FF-C47A-1A89-187B-B6856C54B6F4}"/>
              </a:ext>
            </a:extLst>
          </p:cNvPr>
          <p:cNvSpPr txBox="1"/>
          <p:nvPr/>
        </p:nvSpPr>
        <p:spPr>
          <a:xfrm>
            <a:off x="115432" y="1948108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 err="1"/>
              <a:t>my_list.insert</a:t>
            </a:r>
            <a:r>
              <a:rPr lang="en-IN" dirty="0"/>
              <a:t>(1, 1.5)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1.5, 2, 3]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BD0167-F0FD-4E61-31F5-F738EA1B5138}"/>
              </a:ext>
            </a:extLst>
          </p:cNvPr>
          <p:cNvSpPr txBox="1"/>
          <p:nvPr/>
        </p:nvSpPr>
        <p:spPr>
          <a:xfrm>
            <a:off x="115432" y="287106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2. </a:t>
            </a:r>
            <a:r>
              <a:rPr lang="en-IN" b="1" dirty="0">
                <a:solidFill>
                  <a:srgbClr val="FF0000"/>
                </a:solidFill>
              </a:rPr>
              <a:t>Modify Elements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786B45-A23D-B160-6593-4E8430E3B06F}"/>
              </a:ext>
            </a:extLst>
          </p:cNvPr>
          <p:cNvSpPr txBox="1"/>
          <p:nvPr/>
        </p:nvSpPr>
        <p:spPr>
          <a:xfrm>
            <a:off x="115432" y="3240399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/>
              <a:t>index = </a:t>
            </a:r>
            <a:r>
              <a:rPr lang="en-IN" dirty="0" err="1"/>
              <a:t>my_list.index</a:t>
            </a:r>
            <a:r>
              <a:rPr lang="en-IN" dirty="0"/>
              <a:t>(2)  </a:t>
            </a:r>
            <a:r>
              <a:rPr lang="en-IN" dirty="0">
                <a:solidFill>
                  <a:srgbClr val="00B050"/>
                </a:solidFill>
              </a:rPr>
              <a:t># index becomes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6BAFC7-9EDB-B69B-9079-D19CAAA52846}"/>
              </a:ext>
            </a:extLst>
          </p:cNvPr>
          <p:cNvSpPr txBox="1"/>
          <p:nvPr/>
        </p:nvSpPr>
        <p:spPr>
          <a:xfrm>
            <a:off x="115432" y="4004391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2, 3]</a:t>
            </a:r>
          </a:p>
          <a:p>
            <a:r>
              <a:rPr lang="en-IN" dirty="0"/>
              <a:t>count = </a:t>
            </a:r>
            <a:r>
              <a:rPr lang="en-IN" dirty="0" err="1"/>
              <a:t>my_list.count</a:t>
            </a:r>
            <a:r>
              <a:rPr lang="en-IN" dirty="0"/>
              <a:t>(2)  </a:t>
            </a:r>
            <a:r>
              <a:rPr lang="en-IN" dirty="0">
                <a:solidFill>
                  <a:srgbClr val="00B050"/>
                </a:solidFill>
              </a:rPr>
              <a:t># count becomes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449921-0877-C389-18FE-14DE416C1B82}"/>
              </a:ext>
            </a:extLst>
          </p:cNvPr>
          <p:cNvSpPr txBox="1"/>
          <p:nvPr/>
        </p:nvSpPr>
        <p:spPr>
          <a:xfrm>
            <a:off x="6670141" y="28611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3. </a:t>
            </a:r>
            <a:r>
              <a:rPr lang="en-IN" b="1" dirty="0">
                <a:solidFill>
                  <a:srgbClr val="FF0000"/>
                </a:solidFill>
              </a:rPr>
              <a:t>Delete Elements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9AA55F-3554-2650-311F-9A521D188D4F}"/>
              </a:ext>
            </a:extLst>
          </p:cNvPr>
          <p:cNvSpPr txBox="1"/>
          <p:nvPr/>
        </p:nvSpPr>
        <p:spPr>
          <a:xfrm>
            <a:off x="6670141" y="623947"/>
            <a:ext cx="63826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 err="1"/>
              <a:t>my_list.remove</a:t>
            </a:r>
            <a:r>
              <a:rPr lang="en-IN" dirty="0"/>
              <a:t>(2)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3]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3D0F94-8866-9A96-CDD2-F428AE2029BA}"/>
              </a:ext>
            </a:extLst>
          </p:cNvPr>
          <p:cNvSpPr txBox="1"/>
          <p:nvPr/>
        </p:nvSpPr>
        <p:spPr>
          <a:xfrm>
            <a:off x="6638454" y="1301777"/>
            <a:ext cx="49680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/>
              <a:t>element = </a:t>
            </a:r>
            <a:r>
              <a:rPr lang="en-IN" dirty="0" err="1"/>
              <a:t>my_list.pop</a:t>
            </a:r>
            <a:r>
              <a:rPr lang="en-IN" dirty="0"/>
              <a:t>()  </a:t>
            </a:r>
          </a:p>
          <a:p>
            <a:r>
              <a:rPr lang="en-IN" dirty="0">
                <a:solidFill>
                  <a:srgbClr val="00B050"/>
                </a:solidFill>
              </a:rPr>
              <a:t># element becomes 3,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2]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1519F4-C494-94E4-7F3C-3DFFA4765E51}"/>
              </a:ext>
            </a:extLst>
          </p:cNvPr>
          <p:cNvSpPr txBox="1"/>
          <p:nvPr/>
        </p:nvSpPr>
        <p:spPr>
          <a:xfrm>
            <a:off x="6670141" y="2348230"/>
            <a:ext cx="6613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 err="1"/>
              <a:t>my_list.clear</a:t>
            </a:r>
            <a:r>
              <a:rPr lang="en-IN" dirty="0"/>
              <a:t>()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5E52F4-96D5-77DC-982B-BFFA75AFF2C6}"/>
              </a:ext>
            </a:extLst>
          </p:cNvPr>
          <p:cNvSpPr txBox="1"/>
          <p:nvPr/>
        </p:nvSpPr>
        <p:spPr>
          <a:xfrm>
            <a:off x="6638454" y="3107889"/>
            <a:ext cx="664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4. </a:t>
            </a:r>
            <a:r>
              <a:rPr lang="en-IN" b="1" dirty="0">
                <a:solidFill>
                  <a:srgbClr val="FF0000"/>
                </a:solidFill>
              </a:rPr>
              <a:t>Sort Elements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7DF386-DF92-1AB4-4880-2DB815E1BD4D}"/>
              </a:ext>
            </a:extLst>
          </p:cNvPr>
          <p:cNvSpPr txBox="1"/>
          <p:nvPr/>
        </p:nvSpPr>
        <p:spPr>
          <a:xfrm>
            <a:off x="6670141" y="3502245"/>
            <a:ext cx="6640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[3, 1, 2]</a:t>
            </a:r>
          </a:p>
          <a:p>
            <a:r>
              <a:rPr lang="en-IN" dirty="0" err="1"/>
              <a:t>my_list.sort</a:t>
            </a:r>
            <a:r>
              <a:rPr lang="en-IN" dirty="0"/>
              <a:t>()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2, 3]</a:t>
            </a:r>
          </a:p>
          <a:p>
            <a:r>
              <a:rPr lang="en-IN" dirty="0" err="1"/>
              <a:t>my_list.sort</a:t>
            </a:r>
            <a:r>
              <a:rPr lang="en-IN" dirty="0"/>
              <a:t>(reverse=True)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[3, 2, 1]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B617A8-BE77-0069-4088-2E36485FB6C3}"/>
              </a:ext>
            </a:extLst>
          </p:cNvPr>
          <p:cNvSpPr txBox="1"/>
          <p:nvPr/>
        </p:nvSpPr>
        <p:spPr>
          <a:xfrm>
            <a:off x="6670141" y="4450599"/>
            <a:ext cx="6654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[3, 1, 2]</a:t>
            </a:r>
          </a:p>
          <a:p>
            <a:r>
              <a:rPr lang="en-IN" dirty="0" err="1"/>
              <a:t>new_list</a:t>
            </a:r>
            <a:r>
              <a:rPr lang="en-IN" dirty="0"/>
              <a:t> = sorted(</a:t>
            </a:r>
            <a:r>
              <a:rPr lang="en-IN" dirty="0" err="1"/>
              <a:t>my_list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new_list</a:t>
            </a:r>
            <a:r>
              <a:rPr lang="en-IN" dirty="0">
                <a:solidFill>
                  <a:srgbClr val="00B050"/>
                </a:solidFill>
              </a:rPr>
              <a:t> becomes [1, 2, 3]</a:t>
            </a:r>
          </a:p>
        </p:txBody>
      </p:sp>
    </p:spTree>
    <p:extLst>
      <p:ext uri="{BB962C8B-B14F-4D97-AF65-F5344CB8AC3E}">
        <p14:creationId xmlns:p14="http://schemas.microsoft.com/office/powerpoint/2010/main" val="33663578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0A8837-59B2-E96B-B8A7-F147B59B6F8B}"/>
              </a:ext>
            </a:extLst>
          </p:cNvPr>
          <p:cNvSpPr txBox="1"/>
          <p:nvPr/>
        </p:nvSpPr>
        <p:spPr>
          <a:xfrm>
            <a:off x="504731" y="100133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5. </a:t>
            </a:r>
            <a:r>
              <a:rPr lang="en-IN" b="1" dirty="0">
                <a:solidFill>
                  <a:srgbClr val="FF0000"/>
                </a:solidFill>
              </a:rPr>
              <a:t>Copy Lists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6AC16-92D7-7A8A-5742-75BABEE6FD15}"/>
              </a:ext>
            </a:extLst>
          </p:cNvPr>
          <p:cNvSpPr txBox="1"/>
          <p:nvPr/>
        </p:nvSpPr>
        <p:spPr>
          <a:xfrm>
            <a:off x="504731" y="1614276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 err="1"/>
              <a:t>new_list</a:t>
            </a:r>
            <a:r>
              <a:rPr lang="en-IN" dirty="0"/>
              <a:t> = </a:t>
            </a:r>
            <a:r>
              <a:rPr lang="en-IN" dirty="0" err="1"/>
              <a:t>my_list.copy</a:t>
            </a:r>
            <a:r>
              <a:rPr lang="en-IN" dirty="0"/>
              <a:t>()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new_list</a:t>
            </a:r>
            <a:r>
              <a:rPr lang="en-IN" dirty="0">
                <a:solidFill>
                  <a:srgbClr val="00B050"/>
                </a:solidFill>
              </a:rPr>
              <a:t> is [1, 2, 3]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EAB07-3ABB-4B32-52C0-0B5C74E66859}"/>
              </a:ext>
            </a:extLst>
          </p:cNvPr>
          <p:cNvSpPr txBox="1"/>
          <p:nvPr/>
        </p:nvSpPr>
        <p:spPr>
          <a:xfrm>
            <a:off x="504731" y="2338553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my_tuple</a:t>
            </a:r>
            <a:r>
              <a:rPr lang="en-IN" dirty="0"/>
              <a:t> = (1, 2, 3)</a:t>
            </a:r>
          </a:p>
          <a:p>
            <a:r>
              <a:rPr lang="en-IN" dirty="0" err="1"/>
              <a:t>my_list</a:t>
            </a:r>
            <a:r>
              <a:rPr lang="en-IN" dirty="0"/>
              <a:t> = list(</a:t>
            </a:r>
            <a:r>
              <a:rPr lang="en-IN" dirty="0" err="1"/>
              <a:t>my_tuple</a:t>
            </a:r>
            <a:r>
              <a:rPr lang="en-IN" dirty="0"/>
              <a:t>)  </a:t>
            </a:r>
            <a:r>
              <a:rPr lang="en-IN" dirty="0">
                <a:solidFill>
                  <a:srgbClr val="00B050"/>
                </a:solidFill>
              </a:rPr>
              <a:t># </a:t>
            </a:r>
            <a:r>
              <a:rPr lang="en-IN" dirty="0" err="1">
                <a:solidFill>
                  <a:srgbClr val="00B050"/>
                </a:solidFill>
              </a:rPr>
              <a:t>my_list</a:t>
            </a:r>
            <a:r>
              <a:rPr lang="en-IN" dirty="0">
                <a:solidFill>
                  <a:srgbClr val="00B050"/>
                </a:solidFill>
              </a:rPr>
              <a:t> becomes [1, 2, 3]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1EAD9-005A-69C1-F26C-9FD8BA9725FA}"/>
              </a:ext>
            </a:extLst>
          </p:cNvPr>
          <p:cNvSpPr txBox="1"/>
          <p:nvPr/>
        </p:nvSpPr>
        <p:spPr>
          <a:xfrm>
            <a:off x="504731" y="368845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6. </a:t>
            </a:r>
            <a:r>
              <a:rPr lang="en-IN" b="1" dirty="0">
                <a:solidFill>
                  <a:srgbClr val="FF0000"/>
                </a:solidFill>
              </a:rPr>
              <a:t>Join Lists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5C89B5-0450-A0AB-C97C-942DA1C21B2F}"/>
              </a:ext>
            </a:extLst>
          </p:cNvPr>
          <p:cNvSpPr txBox="1"/>
          <p:nvPr/>
        </p:nvSpPr>
        <p:spPr>
          <a:xfrm>
            <a:off x="504731" y="4299685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list1 = [1, 2]</a:t>
            </a:r>
          </a:p>
          <a:p>
            <a:r>
              <a:rPr lang="en-IN" dirty="0"/>
              <a:t>list2 = [3, 4]</a:t>
            </a:r>
          </a:p>
          <a:p>
            <a:r>
              <a:rPr lang="en-IN" dirty="0"/>
              <a:t>result = list1 + list2  </a:t>
            </a:r>
            <a:r>
              <a:rPr lang="en-IN" dirty="0">
                <a:solidFill>
                  <a:srgbClr val="00B050"/>
                </a:solidFill>
              </a:rPr>
              <a:t># result becomes [1, 2, 3, 4]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737544-377C-FACE-F22D-2DFABEB89DA7}"/>
              </a:ext>
            </a:extLst>
          </p:cNvPr>
          <p:cNvSpPr txBox="1"/>
          <p:nvPr/>
        </p:nvSpPr>
        <p:spPr>
          <a:xfrm>
            <a:off x="504731" y="546491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my_list</a:t>
            </a:r>
            <a:r>
              <a:rPr lang="en-IN" dirty="0"/>
              <a:t> = [1, 2]</a:t>
            </a:r>
          </a:p>
          <a:p>
            <a:r>
              <a:rPr lang="en-IN" dirty="0"/>
              <a:t>result = </a:t>
            </a:r>
            <a:r>
              <a:rPr lang="en-IN" dirty="0" err="1"/>
              <a:t>my_list</a:t>
            </a:r>
            <a:r>
              <a:rPr lang="en-IN" dirty="0"/>
              <a:t> * 3  </a:t>
            </a:r>
            <a:r>
              <a:rPr lang="en-IN" dirty="0">
                <a:solidFill>
                  <a:srgbClr val="00B050"/>
                </a:solidFill>
              </a:rPr>
              <a:t># result becomes [1, 2, 1, 2, 1, 2]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13BA0385-FAF0-709C-D189-1BB28574D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593" y="961448"/>
            <a:ext cx="6165410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7. List Methods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append(x)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Adds an element to the end of the list.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extend(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iterable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Extends the list by appending elements from an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iterable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insert(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x)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Inserts an element at a given position.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remove(x)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Removes the first occurrence of an element.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pop([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Removes and returns the item at the given position in the list.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clear()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Removes all items from the list.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index(x)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Returns the index of the first occurrence of an element.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count(x)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Returns the number of occurrences of an element.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sort(key=None, reverse=False)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Sorts the list in place.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reverse()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Reverses the elements of the list in place.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copy()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Returns a shallow copy of the list.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7660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7D29B8-D323-D6AB-7FEF-CE75D7DB275C}"/>
              </a:ext>
            </a:extLst>
          </p:cNvPr>
          <p:cNvSpPr txBox="1"/>
          <p:nvPr/>
        </p:nvSpPr>
        <p:spPr>
          <a:xfrm>
            <a:off x="3150147" y="16841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>
                <a:solidFill>
                  <a:srgbClr val="05B5B3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2. Python Dictionary</a:t>
            </a:r>
          </a:p>
        </p:txBody>
      </p:sp>
      <p:pic>
        <p:nvPicPr>
          <p:cNvPr id="2050" name="Picture 2" descr="Python Dictionary">
            <a:extLst>
              <a:ext uri="{FF2B5EF4-FFF2-40B4-BE49-F238E27FC236}">
                <a16:creationId xmlns:a16="http://schemas.microsoft.com/office/drawing/2014/main" id="{4D2EBC8F-4A2B-E9F0-FCD9-83AAC6CE3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749" y="655445"/>
            <a:ext cx="2042304" cy="183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E301DD-0A86-F9BA-D2AB-DB766BDDFCDA}"/>
              </a:ext>
            </a:extLst>
          </p:cNvPr>
          <p:cNvSpPr txBox="1"/>
          <p:nvPr/>
        </p:nvSpPr>
        <p:spPr>
          <a:xfrm>
            <a:off x="418724" y="3176277"/>
            <a:ext cx="60975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Creating a Dictionary with mixed keys</a:t>
            </a:r>
          </a:p>
          <a:p>
            <a:r>
              <a:rPr lang="en-IN" dirty="0" err="1"/>
              <a:t>myDict</a:t>
            </a:r>
            <a:r>
              <a:rPr lang="en-IN" dirty="0"/>
              <a:t> = {'Course': 'Python', 34: ['Beginner', 'Advanced']}</a:t>
            </a:r>
          </a:p>
          <a:p>
            <a:r>
              <a:rPr lang="en-IN" dirty="0"/>
              <a:t>print("Created Dictionary: ")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print(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myDict</a:t>
            </a:r>
            <a:r>
              <a:rPr lang="en-IN" b="0" dirty="0">
                <a:effectLst/>
                <a:latin typeface="Consolas" panose="020B0609020204030204" pitchFamily="49" charset="0"/>
              </a:rPr>
              <a:t>[34][0]) </a:t>
            </a:r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myDict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Accessing an element using its key</a:t>
            </a:r>
          </a:p>
          <a:p>
            <a:r>
              <a:rPr lang="en-IN" dirty="0"/>
              <a:t>print("Accessing an element using its key:")</a:t>
            </a:r>
          </a:p>
          <a:p>
            <a:r>
              <a:rPr lang="en-IN" dirty="0"/>
              <a:t>print(</a:t>
            </a:r>
            <a:r>
              <a:rPr lang="en-IN" dirty="0" err="1"/>
              <a:t>myDict</a:t>
            </a:r>
            <a:r>
              <a:rPr lang="en-IN" dirty="0"/>
              <a:t>['Course'])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E1232-2BBC-4C74-A8EF-4D3360600A27}"/>
              </a:ext>
            </a:extLst>
          </p:cNvPr>
          <p:cNvSpPr txBox="1"/>
          <p:nvPr/>
        </p:nvSpPr>
        <p:spPr>
          <a:xfrm>
            <a:off x="6516232" y="3176277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Accessing an element using the get() method</a:t>
            </a:r>
          </a:p>
          <a:p>
            <a:r>
              <a:rPr lang="en-IN" dirty="0"/>
              <a:t>print("Accessing an element using get():")</a:t>
            </a:r>
          </a:p>
          <a:p>
            <a:r>
              <a:rPr lang="en-IN" dirty="0"/>
              <a:t>print(</a:t>
            </a:r>
            <a:r>
              <a:rPr lang="en-IN" dirty="0" err="1"/>
              <a:t>myDict.get</a:t>
            </a:r>
            <a:r>
              <a:rPr lang="en-IN" dirty="0"/>
              <a:t>(34))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# Creating a dictionary using dictionary comprehension</a:t>
            </a:r>
          </a:p>
          <a:p>
            <a:r>
              <a:rPr lang="en-IN" dirty="0" err="1"/>
              <a:t>squaredDict</a:t>
            </a:r>
            <a:r>
              <a:rPr lang="en-IN" dirty="0"/>
              <a:t> = {x: x**2 for x in range(1, 6)}</a:t>
            </a:r>
          </a:p>
          <a:p>
            <a:r>
              <a:rPr lang="en-IN" dirty="0"/>
              <a:t>print("Dictionary comprehension example:")</a:t>
            </a:r>
          </a:p>
          <a:p>
            <a:r>
              <a:rPr lang="en-IN" dirty="0"/>
              <a:t>print(</a:t>
            </a:r>
            <a:r>
              <a:rPr lang="en-IN" dirty="0" err="1"/>
              <a:t>squaredDict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12661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49361F-2067-49D8-5C1E-3AC2437A6D08}"/>
              </a:ext>
            </a:extLst>
          </p:cNvPr>
          <p:cNvSpPr txBox="1"/>
          <p:nvPr/>
        </p:nvSpPr>
        <p:spPr>
          <a:xfrm>
            <a:off x="401540" y="155921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b="1" dirty="0">
                <a:solidFill>
                  <a:srgbClr val="FF0000"/>
                </a:solidFill>
              </a:rPr>
              <a:t>Access</a:t>
            </a:r>
            <a:r>
              <a:rPr lang="en-IN" dirty="0">
                <a:solidFill>
                  <a:srgbClr val="FF0000"/>
                </a:solidFill>
              </a:rPr>
              <a:t>: 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my_dict</a:t>
            </a:r>
            <a:r>
              <a:rPr lang="en-IN" dirty="0"/>
              <a:t>['name'])  </a:t>
            </a:r>
            <a:r>
              <a:rPr lang="en-IN" dirty="0">
                <a:solidFill>
                  <a:srgbClr val="00B050"/>
                </a:solidFill>
              </a:rPr>
              <a:t># Output: Alice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2656A-FDB6-10FA-AC98-D12B491E8447}"/>
              </a:ext>
            </a:extLst>
          </p:cNvPr>
          <p:cNvSpPr txBox="1"/>
          <p:nvPr/>
        </p:nvSpPr>
        <p:spPr>
          <a:xfrm>
            <a:off x="401540" y="176700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Changes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B83CA4-182C-387F-41C9-73CE9E8A43B7}"/>
              </a:ext>
            </a:extLst>
          </p:cNvPr>
          <p:cNvSpPr txBox="1"/>
          <p:nvPr/>
        </p:nvSpPr>
        <p:spPr>
          <a:xfrm>
            <a:off x="401540" y="213633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my_dict</a:t>
            </a:r>
            <a:r>
              <a:rPr lang="en-IN" dirty="0"/>
              <a:t>['age'] = 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7CFD2-5EE0-8D81-0257-0C724E3B617A}"/>
              </a:ext>
            </a:extLst>
          </p:cNvPr>
          <p:cNvSpPr txBox="1"/>
          <p:nvPr/>
        </p:nvSpPr>
        <p:spPr>
          <a:xfrm>
            <a:off x="401540" y="287500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Add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C9C536-A9B7-9798-D969-F3E998C8DF2E}"/>
              </a:ext>
            </a:extLst>
          </p:cNvPr>
          <p:cNvSpPr txBox="1"/>
          <p:nvPr/>
        </p:nvSpPr>
        <p:spPr>
          <a:xfrm>
            <a:off x="390177" y="324433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my_dict</a:t>
            </a:r>
            <a:r>
              <a:rPr lang="en-IN" dirty="0"/>
              <a:t>['city'] = 'New York'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68439E-09DE-4D19-DD5E-4E85FD43BEFE}"/>
              </a:ext>
            </a:extLst>
          </p:cNvPr>
          <p:cNvSpPr txBox="1"/>
          <p:nvPr/>
        </p:nvSpPr>
        <p:spPr>
          <a:xfrm>
            <a:off x="401540" y="389066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Remove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AD98F0-8842-F2A5-A3D4-4D86D4E3C7BA}"/>
              </a:ext>
            </a:extLst>
          </p:cNvPr>
          <p:cNvSpPr txBox="1"/>
          <p:nvPr/>
        </p:nvSpPr>
        <p:spPr>
          <a:xfrm>
            <a:off x="390177" y="425999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del </a:t>
            </a:r>
            <a:r>
              <a:rPr lang="en-IN" dirty="0" err="1"/>
              <a:t>my_dict</a:t>
            </a:r>
            <a:r>
              <a:rPr lang="en-IN" dirty="0"/>
              <a:t>['city']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E5AB0F-92F0-6F88-17F1-4C5270D531C2}"/>
              </a:ext>
            </a:extLst>
          </p:cNvPr>
          <p:cNvSpPr txBox="1"/>
          <p:nvPr/>
        </p:nvSpPr>
        <p:spPr>
          <a:xfrm>
            <a:off x="7512113" y="67125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Loop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D1A108-5646-D02C-17F6-3DED99CFA836}"/>
              </a:ext>
            </a:extLst>
          </p:cNvPr>
          <p:cNvSpPr txBox="1"/>
          <p:nvPr/>
        </p:nvSpPr>
        <p:spPr>
          <a:xfrm>
            <a:off x="7512113" y="1120675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key in </a:t>
            </a:r>
            <a:r>
              <a:rPr lang="en-IN" dirty="0" err="1"/>
              <a:t>my_dict</a:t>
            </a:r>
            <a:r>
              <a:rPr lang="en-IN" dirty="0"/>
              <a:t>:</a:t>
            </a:r>
          </a:p>
          <a:p>
            <a:r>
              <a:rPr lang="en-IN" dirty="0"/>
              <a:t>    print(key, </a:t>
            </a:r>
            <a:r>
              <a:rPr lang="en-IN" dirty="0" err="1"/>
              <a:t>my_dict</a:t>
            </a:r>
            <a:r>
              <a:rPr lang="en-IN" dirty="0"/>
              <a:t>[key])</a:t>
            </a:r>
          </a:p>
          <a:p>
            <a:endParaRPr lang="en-IN" dirty="0"/>
          </a:p>
          <a:p>
            <a:r>
              <a:rPr lang="en-IN" dirty="0"/>
              <a:t>for key, value in </a:t>
            </a:r>
            <a:r>
              <a:rPr lang="en-IN" dirty="0" err="1"/>
              <a:t>my_dict.items</a:t>
            </a:r>
            <a:r>
              <a:rPr lang="en-IN" dirty="0"/>
              <a:t>():</a:t>
            </a:r>
          </a:p>
          <a:p>
            <a:r>
              <a:rPr lang="en-IN" dirty="0"/>
              <a:t>    print(key, value)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03646E-DD59-7979-4263-B2478A82E984}"/>
              </a:ext>
            </a:extLst>
          </p:cNvPr>
          <p:cNvSpPr txBox="1"/>
          <p:nvPr/>
        </p:nvSpPr>
        <p:spPr>
          <a:xfrm>
            <a:off x="7512113" y="2756045"/>
            <a:ext cx="6803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Copy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735C68-82E9-7543-D221-6AD99C00DF18}"/>
              </a:ext>
            </a:extLst>
          </p:cNvPr>
          <p:cNvSpPr txBox="1"/>
          <p:nvPr/>
        </p:nvSpPr>
        <p:spPr>
          <a:xfrm>
            <a:off x="7512113" y="3105834"/>
            <a:ext cx="7156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new_dict</a:t>
            </a:r>
            <a:r>
              <a:rPr lang="en-IN" dirty="0"/>
              <a:t> = </a:t>
            </a:r>
            <a:r>
              <a:rPr lang="en-IN" dirty="0" err="1"/>
              <a:t>my_dict.copy</a:t>
            </a:r>
            <a:r>
              <a:rPr lang="en-IN" dirty="0"/>
              <a:t>()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2EA4FE-7608-49E7-3F9B-1A83CCD21526}"/>
              </a:ext>
            </a:extLst>
          </p:cNvPr>
          <p:cNvSpPr txBox="1"/>
          <p:nvPr/>
        </p:nvSpPr>
        <p:spPr>
          <a:xfrm>
            <a:off x="7506478" y="4101956"/>
            <a:ext cx="73338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nested_dict</a:t>
            </a:r>
            <a:r>
              <a:rPr lang="en-IN" dirty="0"/>
              <a:t> = {</a:t>
            </a:r>
          </a:p>
          <a:p>
            <a:r>
              <a:rPr lang="en-IN" dirty="0"/>
              <a:t>    'person1': {'name': 'Alice', 'age': 30},</a:t>
            </a:r>
          </a:p>
          <a:p>
            <a:r>
              <a:rPr lang="en-IN" dirty="0"/>
              <a:t>    'person2': {'name': 'Bob', 'age': 25}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print(</a:t>
            </a:r>
            <a:r>
              <a:rPr lang="en-IN" dirty="0" err="1"/>
              <a:t>nested_dict</a:t>
            </a:r>
            <a:r>
              <a:rPr lang="en-IN" dirty="0"/>
              <a:t>['person1']['name'])  </a:t>
            </a:r>
          </a:p>
          <a:p>
            <a:r>
              <a:rPr lang="en-IN" dirty="0">
                <a:solidFill>
                  <a:srgbClr val="00B050"/>
                </a:solidFill>
              </a:rPr>
              <a:t># Output: Alice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E4EA99-45C7-BF4A-AC58-2ED9547DE6CB}"/>
              </a:ext>
            </a:extLst>
          </p:cNvPr>
          <p:cNvSpPr txBox="1"/>
          <p:nvPr/>
        </p:nvSpPr>
        <p:spPr>
          <a:xfrm>
            <a:off x="7517841" y="3732624"/>
            <a:ext cx="7422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Nested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64F810-5E6A-72D5-FFA2-48AA956B2D64}"/>
              </a:ext>
            </a:extLst>
          </p:cNvPr>
          <p:cNvSpPr txBox="1"/>
          <p:nvPr/>
        </p:nvSpPr>
        <p:spPr>
          <a:xfrm>
            <a:off x="2361423" y="150054"/>
            <a:ext cx="7469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 err="1">
                <a:solidFill>
                  <a:srgbClr val="0070C0"/>
                </a:solidFill>
              </a:rPr>
              <a:t>my_dict</a:t>
            </a:r>
            <a:r>
              <a:rPr lang="en-IN" dirty="0">
                <a:solidFill>
                  <a:srgbClr val="0070C0"/>
                </a:solidFill>
              </a:rPr>
              <a:t> = {'name': 'Alice', 'age': 30}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F38087-FA78-C648-C371-7CBFCB2060C8}"/>
              </a:ext>
            </a:extLst>
          </p:cNvPr>
          <p:cNvSpPr txBox="1"/>
          <p:nvPr/>
        </p:nvSpPr>
        <p:spPr>
          <a:xfrm>
            <a:off x="390177" y="4906328"/>
            <a:ext cx="227151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Merge:</a:t>
            </a:r>
          </a:p>
          <a:p>
            <a:r>
              <a:rPr lang="en-IN" dirty="0"/>
              <a:t>dict1 = {'a': 1, 'b': 2}</a:t>
            </a:r>
          </a:p>
          <a:p>
            <a:r>
              <a:rPr lang="en-IN" dirty="0"/>
              <a:t>dict2 = {'c': 3, 'd': 4}</a:t>
            </a:r>
          </a:p>
          <a:p>
            <a:endParaRPr lang="en-IN" dirty="0"/>
          </a:p>
          <a:p>
            <a:r>
              <a:rPr lang="en-IN" dirty="0"/>
              <a:t>merged = dict1 | dict2</a:t>
            </a:r>
          </a:p>
          <a:p>
            <a:r>
              <a:rPr lang="en-IN" dirty="0"/>
              <a:t>print(merged)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9136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3120</Words>
  <Application>Microsoft Office PowerPoint</Application>
  <PresentationFormat>Widescreen</PresentationFormat>
  <Paragraphs>477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Arial</vt:lpstr>
      <vt:lpstr>Arial Unicode MS</vt:lpstr>
      <vt:lpstr>Calibri</vt:lpstr>
      <vt:lpstr>Calibri Light</vt:lpstr>
      <vt:lpstr>Consolas</vt:lpstr>
      <vt:lpstr>Roboto</vt:lpstr>
      <vt:lpstr>Source Sans 3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2025-09-28T06:33:34Z</dcterms:created>
  <dcterms:modified xsi:type="dcterms:W3CDTF">2025-10-26T07:26:13Z</dcterms:modified>
</cp:coreProperties>
</file>